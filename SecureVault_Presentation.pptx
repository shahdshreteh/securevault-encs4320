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1" r:id="rId7"/>
    <p:sldId id="262" r:id="rId8"/>
    <p:sldId id="263" r:id="rId9"/>
    <p:sldId id="264" r:id="rId10"/>
    <p:sldId id="265" r:id="rId11"/>
    <p:sldId id="272" r:id="rId23"/>
    <p:sldId id="267" r:id="rId13"/>
    <p:sldId id="274" r:id="rId25"/>
    <p:sldId id="275" r:id="rId26"/>
    <p:sldId id="270" r:id="rId16"/>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3" Type="http://schemas.openxmlformats.org/officeDocument/2006/relationships/slide" Target="slides/slide10.xml"/><Relationship Id="rId16"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9.xml"/><Relationship Id="rId25" Type="http://schemas.openxmlformats.org/officeDocument/2006/relationships/slide" Target="slides/slide11.xml"/><Relationship Id="rId26"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328"/>
                </a:solidFill>
                <a:latin typeface="Arial"/>
              </a:defRPr>
            </a:pPr>
            <a:r>
              <a:rPr sz="1200" b="0" i="0" u="none" strike="noStrike">
                <a:solidFill>
                  <a:srgbClr val="1E2328"/>
                </a:solidFill>
                <a:latin typeface="Arial"/>
              </a:rPr>
              <a:t>Measured time per operation (ms)</a:t>
            </a:r>
          </a:p>
        </c:rich>
      </c:tx>
      <c:layout/>
      <c:overlay val="0"/>
    </c:title>
    <c:autoTitleDeleted val="0"/>
    <c:plotArea>
      <c:layout/>
      <c:barChart>
        <c:barDir val="bar"/>
        <c:grouping val="clustered"/>
        <c:varyColors val="0"/>
        <c:ser>
          <c:idx val="0"/>
          <c:order val="0"/>
          <c:tx>
            <c:strRef>
              <c:f>Sheet1!$B$1</c:f>
              <c:strCache>
                <c:ptCount val="1"/>
                <c:pt idx="0">
                  <c:v>ms per operation</c:v>
                </c:pt>
              </c:strCache>
            </c:strRef>
          </c:tx>
          <c:spPr>
            <a:solidFill>
              <a:srgbClr val="2A9D8F"/>
            </a:solidFill>
            <a:effectLst/>
          </c:spPr>
          <c:invertIfNegative val="0"/>
          <c:dLbls>
            <c:numFmt formatCode="#,##0" sourceLinked="0"/>
            <c:txPr>
              <a:bodyPr/>
              <a:lstStyle/>
              <a:p>
                <a:pPr>
                  <a:defRPr b="0" i="0" strike="noStrike" sz="1000" u="none">
                    <a:solidFill>
                      <a:srgbClr val="1E2328"/>
                    </a:solidFill>
                    <a:latin typeface="Arial"/>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E0A526"/>
              </a:solidFill>
              <a:effectLst/>
            </c:spPr>
          </c:dPt>
          <c:dPt>
            <c:idx val="2"/>
            <c:invertIfNegative val="0"/>
            <c:bubble3D val="0"/>
            <c:spPr>
              <a:solidFill>
                <a:srgbClr val="C0392B"/>
              </a:solidFill>
              <a:effectLst/>
            </c:spPr>
          </c:dPt>
          <c:cat>
            <c:multiLvlStrRef>
              <c:f>Sheet1!$A$2:$A$4</c:f>
              <c:multiLvlStrCache>
                <c:ptCount val="3"/>
                <c:lvl>
                  <c:pt idx="0">
                    <c:v>X25519 (ours)</c:v>
                  </c:pt>
                  <c:pt idx="1">
                    <c:v>FFDH-3072, 256-bit exp</c:v>
                  </c:pt>
                  <c:pt idx="2">
                    <c:v>FFDH-3072, full exp</c:v>
                  </c:pt>
                </c:lvl>
              </c:multiLvlStrCache>
            </c:multiLvlStrRef>
          </c:cat>
          <c:val>
            <c:numRef>
              <c:f>Sheet1!$B$2:$B$4</c:f>
              <c:numCache>
                <c:formatCode>General</c:formatCode>
                <c:ptCount val="3"/>
                <c:pt idx="0">
                  <c:v>1.39</c:v>
                </c:pt>
                <c:pt idx="1">
                  <c:v>5.7</c:v>
                </c:pt>
                <c:pt idx="2">
                  <c:v>67.1</c:v>
                </c:pt>
              </c:numCache>
            </c:numRef>
          </c:val>
        </c:ser>
        <c:dLbls>
          <c:numFmt formatCode="#,##0" sourceLinked="0"/>
          <c:txPr>
            <a:bodyPr/>
            <a:lstStyle/>
            <a:p>
              <a:pPr>
                <a:defRPr b="0" i="0" strike="noStrike" sz="1000" u="none">
                  <a:solidFill>
                    <a:srgbClr val="1E23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3"/>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sentence: SecureVault lets people store and share files on a server that cannot read them, cannot learn passwords, and cannot change files without being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parties. The key point: the server is honest-but-curious, so it runs our code faithfully but reads everything and its database may be stolen. The attacker controls the network completely. Out-of-scope items are from the spec; we mention them again in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server only checks logins, stores opaque objects, and passes them to the right user. It is structurally unable to read documents because no key that opens a document ever reaches it. In the latest version every connection is wrapped in TLS 1.2 or newer: the server loads server.crt and server.key, and each client is started with --ca-cert server.crt, so it verifies the certificate and the host name before sending anything. Inside the TLS channel the messages are still length-prefixed JSON; bytes are base64.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Upload: fresh keys, encrypt, MAC the metadata plus IV plus ciphertext, sign the plaintext hash with the metadata, wrap the keys for Omar using X25519 and HKDF, then upload. Retrieve is the mirror: unwrap, check the MAC BEFORE decrypting, decrypt, confirm the signed metadata equals the encrypted metadata and names the right id, owner, recipient, then verify Layla's signature. Key hierarchy in one sentence: the password gives (through Argon2id) the login key and the wallet key; identity keys and per-document keys are random, so a password change never re-encrypts documents.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62^8 = 2.18e14 passwords, half on average. CPU: 42 guesses/s, about 82,000 years. GPU estimate: Argon2 is limited by memory bandwidth, about 1 TB/s divided by roughly 128 MiB per guess = ~7,800 guesses/s, about 440 years. Bare SHA-256 at ~2.2e10/s: about 83 minutes. The salt is not secret; it only makes equal passwords look different. Honest limit: a dictionary password still falls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keys per document: K_enc and K_mac, both 32 bytes. Rejected GCM because a hand-written GHASH in GF(2^128) is risky; CCM gives no gain; Poly1305 arithmetic is as easy to get wrong. If asked 'show me the code that stops a nonce repeating': src/crypto/key_wrap.py generate_document_keys and src/crypto/cbc.py generate_iv.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128-bit level: Curve25519 needs 256-bit keys, finite-field DH or RSA need about 3072 bits. We measured on the same machine: our pure Python X25519 1.39 ms, one 3072-bit modular exponentiation 5.7 ms with a 256-bit exponent and 67 ms with a full exponent. AES-256 behind a 128-bit curve is fine: the weakest link is 128 bits, not a 1024-bit design error. Signatures vs MACs: the HMAC key is shared by Alice and Bob, so a tag proves nothing to a third party. Only Alice's Ed25519 private key can make her signature - that is non-repudiation. A judge gets the file, the signed metadata, the 64-byte signature and her public key and verifies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as SSH and Signal. The fingerprint covers the username and both public keys. On first interaction Layla accepts Omar's keys as the server delivers them; if they ever change later, the client refuses. The known weak point is an attacker who is present at the very first contact, which the optional verification code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order is what makes them work together: MAC first, then decrypt, then compare signed metadata with the MAC-protected metadata, then verify the signature. Domain labels on every MAC and signature stop one value from being reused for another purpose. The new Transport row is the TLS layer: it protects the envelope (session token, usernames, metadata) against the network attacker.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these before you are asked. TLS now hides the token and metadata from the network, but the certificate is self-signed: it is only as safe as the way server.crt reaches each client, server.key is unencrypted on disk, and there is no rotation. The server itself still sees metadata after TLS. Request-ID cache is in memory, so it is empty after a restart; unique document IDs still block duplicates. Also missing: password change and key revocation.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change in the latest code. Before, frames went over plain TCP: nobody could read documents or passwords, but the session token, usernames and metadata were visible, so an attacker could reuse a token. Now the server wraps every socket in TLS 1.2+ with our certificate, and the client trusts only that certificate (like pinning). TLS comes from Python's ssl module; it is a transport wrapper, not one of the from-scratch primitives. It does not change the honest-but-curious server model. Why it matters: TLS stops the network attacker (token, usernames, metadata, in-channel replay); our end-to-end layer still stops the server. Rejected: per-request HMAC (metadata stays readable) and mutual TLS (duplicates our Argon2id login).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Alice encrypts the file with fresh keys, signs it, wraps the keys for Bob and uploads demo2. Bob unwraps the keys, checks the HMAC before decrypting, then verifies Alice's Ed25519 signature. The decrypted file is byte-for-byte the original. Run: python generate_tls_cert.py; python securevault_cli.py server --cert server.crt --key server.key; then two shells with --ca-cert server.crt and --data-dir data/alice or data/bob.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tamper_metadata.py acts as a malicious server and changes the filename stored for demo1. Before the change the retrieve passes; after it the client prints 'Document integrity verification failed.' Right: python -m pytest tests -q gives 219 passed in 6.28 s; test_challenge_cannot_be_replayed shows a login challenge works only once. Libraries used: Argon2id (argon2-cffi), Ed25519 (cryptography), SHA-256 (hashlib), TLS (ssl).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image" Target="../media/image1.png"/><Relationship Id="rId6" Type="http://schemas.openxmlformats.org/officeDocument/2006/relationships/image" Target="../media/image-3-2.png"/><Relationship Id="rId7" Type="http://schemas.openxmlformats.org/officeDocument/2006/relationships/image" Target="../media/image2.png"/><Relationship Id="rId8" Type="http://schemas.openxmlformats.org/officeDocument/2006/relationships/notesSlide" Target="../notesSlides/notesSlide17.xml"/><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0.xml"/><Relationship Id="rId5" Type="http://schemas.openxmlformats.org/officeDocument/2006/relationships/image" Target="../media/image4.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8"/>
        </a:solidFill>
      </p:bgPr>
    </p:bg>
    <p:spTree>
      <p:nvGrpSpPr>
        <p:cNvPr id="1" name=""/>
        <p:cNvGrpSpPr/>
        <p:nvPr/>
      </p:nvGrpSpPr>
      <p:grpSpPr>
        <a:xfrm>
          <a:off x="0" y="0"/>
          <a:ext cx="0" cy="0"/>
          <a:chOff x="0" y="0"/>
          <a:chExt cx="0" cy="0"/>
        </a:xfrm>
      </p:grpSpPr>
      <p:sp>
        <p:nvSpPr>
          <p:cNvPr id="2" name="Shape 0"/>
          <p:cNvSpPr/>
          <p:nvPr/>
        </p:nvSpPr>
        <p:spPr>
          <a:xfrm>
            <a:off x="548640" y="640080"/>
            <a:ext cx="822960" cy="822960"/>
          </a:xfrm>
          <a:prstGeom prst="ellipse">
            <a:avLst/>
          </a:prstGeom>
          <a:solidFill>
            <a:srgbClr val="E0A526"/>
          </a:solidFill>
          <a:ln w="12700">
            <a:solidFill>
              <a:srgbClr val="E0A526"/>
            </a:solidFill>
            <a:prstDash val="solid"/>
          </a:ln>
        </p:spPr>
      </p:sp>
      <p:pic>
        <p:nvPicPr>
          <p:cNvPr id="3" name="Image 0" descr="preencoded.png">    </p:cNvPr>
          <p:cNvPicPr>
            <a:picLocks noChangeAspect="1"/>
          </p:cNvPicPr>
          <p:nvPr/>
        </p:nvPicPr>
        <p:blipFill>
          <a:blip r:embed="rId1"/>
          <a:stretch>
            <a:fillRect/>
          </a:stretch>
        </p:blipFill>
        <p:spPr>
          <a:xfrm>
            <a:off x="746150" y="837590"/>
            <a:ext cx="427939" cy="427939"/>
          </a:xfrm>
          <a:prstGeom prst="rect">
            <a:avLst/>
          </a:prstGeom>
        </p:spPr>
      </p:pic>
      <p:sp>
        <p:nvSpPr>
          <p:cNvPr id="4" name="Text 1"/>
          <p:cNvSpPr txBox="1"/>
          <p:nvPr/>
        </p:nvSpPr>
        <p:spPr>
          <a:xfrm>
            <a:off x="548640" y="1645920"/>
            <a:ext cx="7772400" cy="82296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SecureVault</a:t>
            </a:r>
            <a:endParaRPr lang="en-US" sz="4800" dirty="0"/>
          </a:p>
        </p:txBody>
      </p:sp>
      <p:sp>
        <p:nvSpPr>
          <p:cNvPr id="5" name="Text 2"/>
          <p:cNvSpPr txBox="1"/>
          <p:nvPr/>
        </p:nvSpPr>
        <p:spPr>
          <a:xfrm>
            <a:off x="548640" y="2468880"/>
            <a:ext cx="7772400" cy="457200"/>
          </a:xfrm>
          <a:prstGeom prst="rect">
            <a:avLst/>
          </a:prstGeom>
          <a:noFill/>
          <a:ln/>
        </p:spPr>
        <p:txBody>
          <a:bodyPr wrap="square" lIns="0" tIns="0" rIns="0" bIns="0" rtlCol="0" anchor="t"/>
          <a:lstStyle/>
          <a:p>
            <a:pPr indent="0" marL="0">
              <a:buNone/>
            </a:pPr>
            <a:r>
              <a:rPr lang="en-US" sz="2000" dirty="0">
                <a:solidFill>
                  <a:srgbClr val="E0A526"/>
                </a:solidFill>
                <a:latin typeface="Calibri" pitchFamily="34" charset="0"/>
                <a:ea typeface="Calibri" pitchFamily="34" charset="-122"/>
                <a:cs typeface="Calibri" pitchFamily="34" charset="-120"/>
              </a:rPr>
              <a:t>A multi-user encrypted document exchange system</a:t>
            </a:r>
            <a:endParaRPr lang="en-US" sz="2000" dirty="0"/>
          </a:p>
        </p:txBody>
      </p:sp>
      <p:sp>
        <p:nvSpPr>
          <p:cNvPr id="6" name="Text 3"/>
          <p:cNvSpPr txBox="1"/>
          <p:nvPr/>
        </p:nvSpPr>
        <p:spPr>
          <a:xfrm>
            <a:off x="548640" y="3063240"/>
            <a:ext cx="7772400" cy="320040"/>
          </a:xfrm>
          <a:prstGeom prst="rect">
            <a:avLst/>
          </a:prstGeom>
          <a:noFill/>
          <a:ln/>
        </p:spPr>
        <p:txBody>
          <a:bodyPr wrap="square" lIns="0" tIns="0" rIns="0" bIns="0" rtlCol="0" anchor="t"/>
          <a:lstStyle/>
          <a:p>
            <a:pPr indent="0" marL="0">
              <a:buNone/>
            </a:pPr>
            <a:r>
              <a:rPr lang="en-US" sz="1300" dirty="0">
                <a:solidFill>
                  <a:srgbClr val="B9C2C8"/>
                </a:solidFill>
                <a:latin typeface="Calibri" pitchFamily="34" charset="0"/>
                <a:ea typeface="Calibri" pitchFamily="34" charset="-122"/>
                <a:cs typeface="Calibri" pitchFamily="34" charset="-120"/>
              </a:rPr>
              <a:t>ENCS4320 Applied Cryptography  •  Term 1253  •  Birzeit University</a:t>
            </a:r>
            <a:endParaRPr lang="en-US" sz="1300" dirty="0"/>
          </a:p>
        </p:txBody>
      </p:sp>
      <p:sp>
        <p:nvSpPr>
          <p:cNvPr id="7" name="Text 4"/>
          <p:cNvSpPr txBox="1"/>
          <p:nvPr/>
        </p:nvSpPr>
        <p:spPr>
          <a:xfrm>
            <a:off x="548640" y="4069080"/>
            <a:ext cx="80467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Besan Maaly 1222776   |   Shahd Shreteh 1210444   |   Dania Abuayyash 1210464</a:t>
            </a:r>
            <a:endParaRPr lang="en-US" sz="1200" dirty="0"/>
          </a:p>
        </p:txBody>
      </p:sp>
      <p:sp>
        <p:nvSpPr>
          <p:cNvPr id="8" name="Text 5"/>
          <p:cNvSpPr txBox="1"/>
          <p:nvPr/>
        </p:nvSpPr>
        <p:spPr>
          <a:xfrm>
            <a:off x="548640" y="4389120"/>
            <a:ext cx="8046720" cy="274320"/>
          </a:xfrm>
          <a:prstGeom prst="rect">
            <a:avLst/>
          </a:prstGeom>
          <a:noFill/>
          <a:ln/>
        </p:spPr>
        <p:txBody>
          <a:bodyPr wrap="square" lIns="0" tIns="0" rIns="0" bIns="0" rtlCol="0" anchor="t"/>
          <a:lstStyle/>
          <a:p>
            <a:pPr indent="0" marL="0">
              <a:buNone/>
            </a:pPr>
            <a:r>
              <a:rPr lang="en-US" sz="1200" dirty="0">
                <a:solidFill>
                  <a:srgbClr val="B9C2C8"/>
                </a:solidFill>
                <a:latin typeface="Calibri" pitchFamily="34" charset="0"/>
                <a:ea typeface="Calibri" pitchFamily="34" charset="-122"/>
                <a:cs typeface="Calibri" pitchFamily="34" charset="-120"/>
              </a:rPr>
              <a:t>Instructor: Dr. Ahmad Shawahna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Threat model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Who we protect against, and what we left out</a:t>
            </a:r>
            <a:endParaRPr lang="en-US" sz="1300" dirty="0"/>
          </a:p>
        </p:txBody>
      </p:sp>
      <p:sp>
        <p:nvSpPr>
          <p:cNvPr id="4" name="Shape 2"/>
          <p:cNvSpPr/>
          <p:nvPr/>
        </p:nvSpPr>
        <p:spPr>
          <a:xfrm>
            <a:off x="457200" y="1325880"/>
            <a:ext cx="640080" cy="640080"/>
          </a:xfrm>
          <a:prstGeom prst="ellipse">
            <a:avLst/>
          </a:prstGeom>
          <a:solidFill>
            <a:srgbClr val="2A9D8F"/>
          </a:solidFill>
          <a:ln w="12700">
            <a:solidFill>
              <a:srgbClr val="2A9D8F"/>
            </a:solidFill>
            <a:prstDash val="solid"/>
          </a:ln>
        </p:spPr>
      </p:sp>
      <p:pic>
        <p:nvPicPr>
          <p:cNvPr id="5" name="Image 0" descr="preencoded.png">    </p:cNvPr>
          <p:cNvPicPr>
            <a:picLocks noChangeAspect="1"/>
          </p:cNvPicPr>
          <p:nvPr/>
        </p:nvPicPr>
        <p:blipFill>
          <a:blip r:embed="rId1"/>
          <a:stretch>
            <a:fillRect/>
          </a:stretch>
        </p:blipFill>
        <p:spPr>
          <a:xfrm>
            <a:off x="610819" y="1479499"/>
            <a:ext cx="332842" cy="332842"/>
          </a:xfrm>
          <a:prstGeom prst="rect">
            <a:avLst/>
          </a:prstGeom>
        </p:spPr>
      </p:pic>
      <p:sp>
        <p:nvSpPr>
          <p:cNvPr id="6" name="Text 3"/>
          <p:cNvSpPr txBox="1"/>
          <p:nvPr/>
        </p:nvSpPr>
        <p:spPr>
          <a:xfrm>
            <a:off x="1280160" y="1344168"/>
            <a:ext cx="3840480" cy="320040"/>
          </a:xfrm>
          <a:prstGeom prst="rect">
            <a:avLst/>
          </a:prstGeom>
          <a:noFill/>
          <a:ln/>
        </p:spPr>
        <p:txBody>
          <a:bodyPr wrap="square" lIns="0" tIns="0" rIns="0" bIns="0" rtlCol="0" anchor="t"/>
          <a:lstStyle/>
          <a:p>
            <a:pPr indent="0" marL="0">
              <a:buNone/>
            </a:pPr>
            <a:r>
              <a:rPr lang="en-US" sz="1600" b="1" dirty="0">
                <a:solidFill>
                  <a:srgbClr val="1E2328"/>
                </a:solidFill>
                <a:latin typeface="Calibri" pitchFamily="34" charset="0"/>
                <a:ea typeface="Calibri" pitchFamily="34" charset="-122"/>
                <a:cs typeface="Calibri" pitchFamily="34" charset="-120"/>
              </a:rPr>
              <a:t>Users</a:t>
            </a:r>
            <a:endParaRPr lang="en-US" sz="1600" dirty="0"/>
          </a:p>
        </p:txBody>
      </p:sp>
      <p:sp>
        <p:nvSpPr>
          <p:cNvPr id="7" name="Text 4"/>
          <p:cNvSpPr txBox="1"/>
          <p:nvPr/>
        </p:nvSpPr>
        <p:spPr>
          <a:xfrm>
            <a:off x="1280160" y="1655064"/>
            <a:ext cx="3931920" cy="5486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Trusted machine. Only they know their password.</a:t>
            </a:r>
            <a:endParaRPr lang="en-US" sz="1250" dirty="0"/>
          </a:p>
        </p:txBody>
      </p:sp>
      <p:sp>
        <p:nvSpPr>
          <p:cNvPr id="8" name="Shape 5"/>
          <p:cNvSpPr/>
          <p:nvPr/>
        </p:nvSpPr>
        <p:spPr>
          <a:xfrm>
            <a:off x="457200" y="2286000"/>
            <a:ext cx="640080" cy="640080"/>
          </a:xfrm>
          <a:prstGeom prst="ellipse">
            <a:avLst/>
          </a:prstGeom>
          <a:solidFill>
            <a:srgbClr val="E0A526"/>
          </a:solidFill>
          <a:ln w="12700">
            <a:solidFill>
              <a:srgbClr val="E0A526"/>
            </a:solidFill>
            <a:prstDash val="solid"/>
          </a:ln>
        </p:spPr>
      </p:sp>
      <p:pic>
        <p:nvPicPr>
          <p:cNvPr id="9" name="Image 1" descr="preencoded.png">    </p:cNvPr>
          <p:cNvPicPr>
            <a:picLocks noChangeAspect="1"/>
          </p:cNvPicPr>
          <p:nvPr/>
        </p:nvPicPr>
        <p:blipFill>
          <a:blip r:embed="rId2"/>
          <a:stretch>
            <a:fillRect/>
          </a:stretch>
        </p:blipFill>
        <p:spPr>
          <a:xfrm>
            <a:off x="610819" y="2439619"/>
            <a:ext cx="332842" cy="332842"/>
          </a:xfrm>
          <a:prstGeom prst="rect">
            <a:avLst/>
          </a:prstGeom>
        </p:spPr>
      </p:pic>
      <p:sp>
        <p:nvSpPr>
          <p:cNvPr id="10" name="Text 6"/>
          <p:cNvSpPr txBox="1"/>
          <p:nvPr/>
        </p:nvSpPr>
        <p:spPr>
          <a:xfrm>
            <a:off x="1280160" y="2304288"/>
            <a:ext cx="3840480" cy="320040"/>
          </a:xfrm>
          <a:prstGeom prst="rect">
            <a:avLst/>
          </a:prstGeom>
          <a:noFill/>
          <a:ln/>
        </p:spPr>
        <p:txBody>
          <a:bodyPr wrap="square" lIns="0" tIns="0" rIns="0" bIns="0" rtlCol="0" anchor="t"/>
          <a:lstStyle/>
          <a:p>
            <a:pPr indent="0" marL="0">
              <a:buNone/>
            </a:pPr>
            <a:r>
              <a:rPr lang="en-US" sz="1600" b="1" dirty="0">
                <a:solidFill>
                  <a:srgbClr val="1E2328"/>
                </a:solidFill>
                <a:latin typeface="Calibri" pitchFamily="34" charset="0"/>
                <a:ea typeface="Calibri" pitchFamily="34" charset="-122"/>
                <a:cs typeface="Calibri" pitchFamily="34" charset="-120"/>
              </a:rPr>
              <a:t>Server</a:t>
            </a:r>
            <a:endParaRPr lang="en-US" sz="1600" dirty="0"/>
          </a:p>
        </p:txBody>
      </p:sp>
      <p:sp>
        <p:nvSpPr>
          <p:cNvPr id="11" name="Text 7"/>
          <p:cNvSpPr txBox="1"/>
          <p:nvPr/>
        </p:nvSpPr>
        <p:spPr>
          <a:xfrm>
            <a:off x="1280160" y="2615184"/>
            <a:ext cx="3931920" cy="5486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Honest-but-curious: follows the protocol, reads everything, may be fully leaked.</a:t>
            </a:r>
            <a:endParaRPr lang="en-US" sz="1250" dirty="0"/>
          </a:p>
        </p:txBody>
      </p:sp>
      <p:sp>
        <p:nvSpPr>
          <p:cNvPr id="12" name="Shape 8"/>
          <p:cNvSpPr/>
          <p:nvPr/>
        </p:nvSpPr>
        <p:spPr>
          <a:xfrm>
            <a:off x="457200" y="3246120"/>
            <a:ext cx="640080" cy="640080"/>
          </a:xfrm>
          <a:prstGeom prst="ellipse">
            <a:avLst/>
          </a:prstGeom>
          <a:solidFill>
            <a:srgbClr val="C0392B"/>
          </a:solidFill>
          <a:ln w="12700">
            <a:solidFill>
              <a:srgbClr val="C0392B"/>
            </a:solidFill>
            <a:prstDash val="solid"/>
          </a:ln>
        </p:spPr>
      </p:sp>
      <p:pic>
        <p:nvPicPr>
          <p:cNvPr id="13" name="Image 2" descr="preencoded.png">    </p:cNvPr>
          <p:cNvPicPr>
            <a:picLocks noChangeAspect="1"/>
          </p:cNvPicPr>
          <p:nvPr/>
        </p:nvPicPr>
        <p:blipFill>
          <a:blip r:embed="rId3"/>
          <a:stretch>
            <a:fillRect/>
          </a:stretch>
        </p:blipFill>
        <p:spPr>
          <a:xfrm>
            <a:off x="610819" y="3399739"/>
            <a:ext cx="332842" cy="332842"/>
          </a:xfrm>
          <a:prstGeom prst="rect">
            <a:avLst/>
          </a:prstGeom>
        </p:spPr>
      </p:pic>
      <p:sp>
        <p:nvSpPr>
          <p:cNvPr id="14" name="Text 9"/>
          <p:cNvSpPr txBox="1"/>
          <p:nvPr/>
        </p:nvSpPr>
        <p:spPr>
          <a:xfrm>
            <a:off x="1280160" y="3264408"/>
            <a:ext cx="3840480" cy="320040"/>
          </a:xfrm>
          <a:prstGeom prst="rect">
            <a:avLst/>
          </a:prstGeom>
          <a:noFill/>
          <a:ln/>
        </p:spPr>
        <p:txBody>
          <a:bodyPr wrap="square" lIns="0" tIns="0" rIns="0" bIns="0" rtlCol="0" anchor="t"/>
          <a:lstStyle/>
          <a:p>
            <a:pPr indent="0" marL="0">
              <a:buNone/>
            </a:pPr>
            <a:r>
              <a:rPr lang="en-US" sz="1600" b="1" dirty="0">
                <a:solidFill>
                  <a:srgbClr val="1E2328"/>
                </a:solidFill>
                <a:latin typeface="Calibri" pitchFamily="34" charset="0"/>
                <a:ea typeface="Calibri" pitchFamily="34" charset="-122"/>
                <a:cs typeface="Calibri" pitchFamily="34" charset="-120"/>
              </a:rPr>
              <a:t>Attacker</a:t>
            </a:r>
            <a:endParaRPr lang="en-US" sz="1600" dirty="0"/>
          </a:p>
        </p:txBody>
      </p:sp>
      <p:sp>
        <p:nvSpPr>
          <p:cNvPr id="15" name="Text 10"/>
          <p:cNvSpPr txBox="1"/>
          <p:nvPr/>
        </p:nvSpPr>
        <p:spPr>
          <a:xfrm>
            <a:off x="1280160" y="3575304"/>
            <a:ext cx="3931920" cy="5486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Reads and edits all traffic, replays old messages, registers accounts, steals the database.</a:t>
            </a:r>
            <a:endParaRPr lang="en-US" sz="1250" dirty="0"/>
          </a:p>
        </p:txBody>
      </p:sp>
      <p:sp>
        <p:nvSpPr>
          <p:cNvPr id="16" name="Shape 11"/>
          <p:cNvSpPr/>
          <p:nvPr/>
        </p:nvSpPr>
        <p:spPr>
          <a:xfrm>
            <a:off x="5577840" y="1325880"/>
            <a:ext cx="3108960" cy="2788920"/>
          </a:xfrm>
          <a:prstGeom prst="roundRect">
            <a:avLst>
              <a:gd name="adj" fmla="val 2623"/>
            </a:avLst>
          </a:prstGeom>
          <a:solidFill>
            <a:srgbClr val="F3F5F6"/>
          </a:solidFill>
          <a:ln w="12700">
            <a:solidFill>
              <a:srgbClr val="F3F5F6"/>
            </a:solidFill>
            <a:prstDash val="solid"/>
          </a:ln>
        </p:spPr>
      </p:sp>
      <p:sp>
        <p:nvSpPr>
          <p:cNvPr id="17" name="Text 12"/>
          <p:cNvSpPr txBox="1"/>
          <p:nvPr/>
        </p:nvSpPr>
        <p:spPr>
          <a:xfrm>
            <a:off x="5806440" y="1481328"/>
            <a:ext cx="274320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Out of scope</a:t>
            </a:r>
            <a:endParaRPr lang="en-US" sz="1500" dirty="0"/>
          </a:p>
        </p:txBody>
      </p:sp>
      <p:sp>
        <p:nvSpPr>
          <p:cNvPr id="18" name="Text 13"/>
          <p:cNvSpPr txBox="1"/>
          <p:nvPr/>
        </p:nvSpPr>
        <p:spPr>
          <a:xfrm>
            <a:off x="5806440" y="1874520"/>
            <a:ext cx="274320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Malware on the user's own machine</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Forcing a user to give their password</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Traffic analysis of size and timing</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Denial of service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Architecture: client–server over TLS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All cryptography on document content runs on the client - TLS protects the wire</a:t>
            </a:r>
            <a:endParaRPr lang="en-US" sz="1300" dirty="0"/>
          </a:p>
        </p:txBody>
      </p:sp>
      <p:sp>
        <p:nvSpPr>
          <p:cNvPr id="4" name="Shape 2"/>
          <p:cNvSpPr/>
          <p:nvPr/>
        </p:nvSpPr>
        <p:spPr>
          <a:xfrm>
            <a:off x="457200" y="1280160"/>
            <a:ext cx="2743200" cy="1600200"/>
          </a:xfrm>
          <a:prstGeom prst="roundRect">
            <a:avLst>
              <a:gd name="adj" fmla="val 4571"/>
            </a:avLst>
          </a:prstGeom>
          <a:solidFill>
            <a:srgbClr val="F3F5F6"/>
          </a:solidFill>
          <a:ln w="12700">
            <a:solidFill>
              <a:srgbClr val="F3F5F6"/>
            </a:solidFill>
            <a:prstDash val="solid"/>
          </a:ln>
        </p:spPr>
      </p:sp>
      <p:sp>
        <p:nvSpPr>
          <p:cNvPr id="5" name="Text 3"/>
          <p:cNvSpPr txBox="1"/>
          <p:nvPr/>
        </p:nvSpPr>
        <p:spPr>
          <a:xfrm>
            <a:off x="640080" y="1417320"/>
            <a:ext cx="23774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Layla's client</a:t>
            </a:r>
            <a:endParaRPr lang="en-US" sz="1500" dirty="0"/>
          </a:p>
        </p:txBody>
      </p:sp>
      <p:sp>
        <p:nvSpPr>
          <p:cNvPr id="6" name="Text 4"/>
          <p:cNvSpPr txBox="1"/>
          <p:nvPr/>
        </p:nvSpPr>
        <p:spPr>
          <a:xfrm>
            <a:off x="640080" y="1783080"/>
            <a:ext cx="2468880" cy="1051560"/>
          </a:xfrm>
          <a:prstGeom prst="rect">
            <a:avLst/>
          </a:prstGeom>
          <a:noFill/>
          <a:ln/>
        </p:spPr>
        <p:txBody>
          <a:bodyPr wrap="square" lIns="0" tIns="0" rIns="0" bIns="0" rtlCol="0" anchor="t"/>
          <a:lstStyle/>
          <a:p>
            <a:pPr indent="0" marL="0">
              <a:buNone/>
            </a:pPr>
            <a:r>
              <a:rPr lang="en-US" sz="1150" dirty="0">
                <a:solidFill>
                  <a:srgbClr val="5F6B73"/>
                </a:solidFill>
                <a:latin typeface="Calibri" pitchFamily="34" charset="0"/>
                <a:ea typeface="Calibri" pitchFamily="34" charset="-122"/>
                <a:cs typeface="Calibri" pitchFamily="34" charset="-120"/>
              </a:rPr>
              <a:t>Argon2id, login proof</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AES-256-CBC + HMAC (EtM)</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X25519 key wrap, Ed25519 sign</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Encrypted wallet, TOFU store</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TLS: trusts only server.crt</a:t>
            </a:r>
            <a:endParaRPr lang="en-US" sz="1150" dirty="0"/>
          </a:p>
        </p:txBody>
      </p:sp>
      <p:sp>
        <p:nvSpPr>
          <p:cNvPr id="7" name="Shape 5"/>
          <p:cNvSpPr/>
          <p:nvPr/>
        </p:nvSpPr>
        <p:spPr>
          <a:xfrm>
            <a:off x="457200" y="3063240"/>
            <a:ext cx="2743200" cy="1600200"/>
          </a:xfrm>
          <a:prstGeom prst="roundRect">
            <a:avLst>
              <a:gd name="adj" fmla="val 4571"/>
            </a:avLst>
          </a:prstGeom>
          <a:solidFill>
            <a:srgbClr val="F3F5F6"/>
          </a:solidFill>
          <a:ln w="12700">
            <a:solidFill>
              <a:srgbClr val="F3F5F6"/>
            </a:solidFill>
            <a:prstDash val="solid"/>
          </a:ln>
        </p:spPr>
      </p:sp>
      <p:sp>
        <p:nvSpPr>
          <p:cNvPr id="8" name="Text 6"/>
          <p:cNvSpPr txBox="1"/>
          <p:nvPr/>
        </p:nvSpPr>
        <p:spPr>
          <a:xfrm>
            <a:off x="640080" y="3200400"/>
            <a:ext cx="23774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Omar's client</a:t>
            </a:r>
            <a:endParaRPr lang="en-US" sz="1500" dirty="0"/>
          </a:p>
        </p:txBody>
      </p:sp>
      <p:sp>
        <p:nvSpPr>
          <p:cNvPr id="9" name="Text 7"/>
          <p:cNvSpPr txBox="1"/>
          <p:nvPr/>
        </p:nvSpPr>
        <p:spPr>
          <a:xfrm>
            <a:off x="640080" y="3566160"/>
            <a:ext cx="2468880" cy="1051560"/>
          </a:xfrm>
          <a:prstGeom prst="rect">
            <a:avLst/>
          </a:prstGeom>
          <a:noFill/>
          <a:ln/>
        </p:spPr>
        <p:txBody>
          <a:bodyPr wrap="square" lIns="0" tIns="0" rIns="0" bIns="0" rtlCol="0" anchor="t"/>
          <a:lstStyle/>
          <a:p>
            <a:pPr indent="0" marL="0">
              <a:buNone/>
            </a:pPr>
            <a:r>
              <a:rPr lang="en-US" sz="1150" dirty="0">
                <a:solidFill>
                  <a:srgbClr val="5F6B73"/>
                </a:solidFill>
                <a:latin typeface="Calibri" pitchFamily="34" charset="0"/>
                <a:ea typeface="Calibri" pitchFamily="34" charset="-122"/>
                <a:cs typeface="Calibri" pitchFamily="34" charset="-120"/>
              </a:rPr>
              <a:t>Unwrap keys</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Check HMAC → decrypt</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Check metadata → verify signature</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TOFU key-change check</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TLS: trusts only server.crt</a:t>
            </a:r>
            <a:endParaRPr lang="en-US" sz="1150" dirty="0"/>
          </a:p>
        </p:txBody>
      </p:sp>
      <p:sp>
        <p:nvSpPr>
          <p:cNvPr id="10" name="Shape 8"/>
          <p:cNvSpPr/>
          <p:nvPr/>
        </p:nvSpPr>
        <p:spPr>
          <a:xfrm>
            <a:off x="5852160" y="1280160"/>
            <a:ext cx="2834640" cy="3383280"/>
          </a:xfrm>
          <a:prstGeom prst="roundRect">
            <a:avLst>
              <a:gd name="adj" fmla="val 2581"/>
            </a:avLst>
          </a:prstGeom>
          <a:solidFill>
            <a:srgbClr val="FBF3E1"/>
          </a:solidFill>
          <a:ln w="19050">
            <a:solidFill>
              <a:srgbClr val="E0A526"/>
            </a:solidFill>
            <a:prstDash val="solid"/>
          </a:ln>
        </p:spPr>
      </p:sp>
      <p:sp>
        <p:nvSpPr>
          <p:cNvPr id="11" name="Text 9"/>
          <p:cNvSpPr txBox="1"/>
          <p:nvPr/>
        </p:nvSpPr>
        <p:spPr>
          <a:xfrm>
            <a:off x="6035040" y="1417320"/>
            <a:ext cx="246888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Server</a:t>
            </a:r>
            <a:endParaRPr lang="en-US" sz="1500" dirty="0"/>
          </a:p>
        </p:txBody>
      </p:sp>
      <p:sp>
        <p:nvSpPr>
          <p:cNvPr id="12" name="Text 10"/>
          <p:cNvSpPr txBox="1"/>
          <p:nvPr/>
        </p:nvSpPr>
        <p:spPr>
          <a:xfrm>
            <a:off x="6035040" y="1783080"/>
            <a:ext cx="2514600" cy="2743200"/>
          </a:xfrm>
          <a:prstGeom prst="rect">
            <a:avLst/>
          </a:prstGeom>
          <a:noFill/>
          <a:ln/>
        </p:spPr>
        <p:txBody>
          <a:bodyPr wrap="square" lIns="0" tIns="0" rIns="0" bIns="0" rtlCol="0" anchor="t"/>
          <a:lstStyle/>
          <a:p>
            <a:pPr indent="0" marL="0">
              <a:buNone/>
            </a:pPr>
            <a:r>
              <a:rPr lang="en-US" sz="1150" dirty="0">
                <a:solidFill>
                  <a:srgbClr val="5F6B73"/>
                </a:solidFill>
                <a:latin typeface="Calibri" pitchFamily="34" charset="0"/>
                <a:ea typeface="Calibri" pitchFamily="34" charset="-122"/>
                <a:cs typeface="Calibri" pitchFamily="34" charset="-120"/>
              </a:rPr>
              <a:t>TLS endpoint: server.crt + server.key (min TLS 1.2)</a:t>
            </a:r>
            <a:endParaRPr lang="en-US" sz="1150" dirty="0"/>
          </a:p>
          <a:p>
            <a:pPr indent="0" marL="0">
              <a:buNone/>
            </a:pPr>
            <a:endParaRPr lang="en-US" sz="1150" dirty="0"/>
            <a:r>
              <a:rPr lang="en-US" sz="1150" dirty="0">
                <a:solidFill>
                  <a:srgbClr val="5F6B73"/>
                </a:solidFill>
                <a:latin typeface="Calibri" pitchFamily="34" charset="0"/>
                <a:ea typeface="Calibri" pitchFamily="34" charset="-122"/>
                <a:cs typeface="Calibri" pitchFamily="34" charset="-120"/>
              </a:rPr>
              <a:t>Stores: salt, Argon2 params, login public key, public keys, encrypted wallet, ciphertext, tag, signature, wrapped keys</a:t>
            </a:r>
          </a:p>
          <a:p>
            <a:pPr indent="0" marL="0">
              <a:buNone/>
            </a:pPr>
            <a:r>
              <a:rPr lang="en-US" sz="1150" dirty="0">
                <a:solidFill>
                  <a:srgbClr val="5F6B73"/>
                </a:solidFill>
                <a:latin typeface="Calibri" pitchFamily="34" charset="0"/>
                <a:ea typeface="Calibri" pitchFamily="34" charset="-122"/>
                <a:cs typeface="Calibri" pitchFamily="34" charset="-120"/>
              </a:rPr>
              <a:t/>
            </a:r>
            <a:endParaRPr lang="en-US" sz="1150" dirty="0"/>
          </a:p>
          <a:p>
            <a:pPr indent="0" marL="0">
              <a:buNone/>
            </a:pPr>
            <a:r>
              <a:rPr lang="en-US" sz="1150" dirty="0">
                <a:solidFill>
                  <a:srgbClr val="5F6B73"/>
                </a:solidFill>
                <a:latin typeface="Calibri" pitchFamily="34" charset="0"/>
                <a:ea typeface="Calibri" pitchFamily="34" charset="-122"/>
                <a:cs typeface="Calibri" pitchFamily="34" charset="-120"/>
              </a:rPr>
              <a:t>Never gets: passwords, document keys, private keys</a:t>
            </a:r>
            <a:endParaRPr lang="en-US" sz="1150" dirty="0"/>
          </a:p>
        </p:txBody>
      </p:sp>
      <p:sp>
        <p:nvSpPr>
          <p:cNvPr id="13" name="Shape 11"/>
          <p:cNvSpPr/>
          <p:nvPr/>
        </p:nvSpPr>
        <p:spPr>
          <a:xfrm>
            <a:off x="3246120" y="2075688"/>
            <a:ext cx="2560320" cy="548640"/>
          </a:xfrm>
          <a:prstGeom prst="line">
            <a:avLst/>
          </a:prstGeom>
          <a:noFill/>
          <a:ln w="19050">
            <a:solidFill>
              <a:srgbClr val="1E2328"/>
            </a:solidFill>
            <a:prstDash val="solid"/>
            <a:headEnd type="triangle"/>
            <a:tailEnd type="triangle"/>
          </a:ln>
        </p:spPr>
      </p:sp>
      <p:sp>
        <p:nvSpPr>
          <p:cNvPr id="14" name="Shape 12"/>
          <p:cNvSpPr/>
          <p:nvPr/>
        </p:nvSpPr>
        <p:spPr>
          <a:xfrm flipV="1">
            <a:off x="3246120" y="3319272"/>
            <a:ext cx="2560320" cy="548640"/>
          </a:xfrm>
          <a:prstGeom prst="line">
            <a:avLst/>
          </a:prstGeom>
          <a:noFill/>
          <a:ln w="19050">
            <a:solidFill>
              <a:srgbClr val="1E2328"/>
            </a:solidFill>
            <a:prstDash val="solid"/>
            <a:headEnd type="triangle"/>
            <a:tailEnd type="triangle"/>
          </a:ln>
        </p:spPr>
      </p:sp>
      <p:sp>
        <p:nvSpPr>
          <p:cNvPr id="15" name="Shape 13"/>
          <p:cNvSpPr/>
          <p:nvPr/>
        </p:nvSpPr>
        <p:spPr>
          <a:xfrm>
            <a:off x="3703320" y="2670048"/>
            <a:ext cx="1645920" cy="502920"/>
          </a:xfrm>
          <a:prstGeom prst="roundRect">
            <a:avLst>
              <a:gd name="adj" fmla="val 10909"/>
            </a:avLst>
          </a:prstGeom>
          <a:solidFill>
            <a:srgbClr val="FBE9E7"/>
          </a:solidFill>
          <a:ln w="12700">
            <a:solidFill>
              <a:srgbClr val="C0392B"/>
            </a:solidFill>
            <a:prstDash val="solid"/>
          </a:ln>
        </p:spPr>
      </p:sp>
      <p:sp>
        <p:nvSpPr>
          <p:cNvPr id="16" name="Text 14"/>
          <p:cNvSpPr txBox="1"/>
          <p:nvPr/>
        </p:nvSpPr>
        <p:spPr>
          <a:xfrm>
            <a:off x="3703320" y="2788920"/>
            <a:ext cx="1645920" cy="274320"/>
          </a:xfrm>
          <a:prstGeom prst="rect">
            <a:avLst/>
          </a:prstGeom>
          <a:noFill/>
          <a:ln/>
        </p:spPr>
        <p:txBody>
          <a:bodyPr wrap="square" lIns="0" tIns="0" rIns="0" bIns="0" rtlCol="0" anchor="t"/>
          <a:lstStyle/>
          <a:p>
            <a:pPr algn="ctr" indent="0" marL="0">
              <a:buNone/>
            </a:pPr>
            <a:r>
              <a:rPr lang="en-US" sz="950" b="1" dirty="0">
                <a:solidFill>
                  <a:srgbClr val="C0392B"/>
                </a:solidFill>
                <a:latin typeface="Calibri" pitchFamily="34" charset="0"/>
                <a:ea typeface="Calibri" pitchFamily="34" charset="-122"/>
                <a:cs typeface="Calibri" pitchFamily="34" charset="-120"/>
              </a:rPr>
              <a:t>attacker sees only TLS records</a:t>
            </a:r>
            <a:endParaRPr lang="en-US" sz="1100" dirty="0"/>
          </a:p>
        </p:txBody>
      </p:sp>
      <p:sp>
        <p:nvSpPr>
          <p:cNvPr id="17" name="Text 15"/>
          <p:cNvSpPr txBox="1"/>
          <p:nvPr/>
        </p:nvSpPr>
        <p:spPr>
          <a:xfrm>
            <a:off x="457200" y="4754880"/>
            <a:ext cx="8229600" cy="274320"/>
          </a:xfrm>
          <a:prstGeom prst="rect">
            <a:avLst/>
          </a:prstGeom>
          <a:noFill/>
          <a:ln/>
        </p:spPr>
        <p:txBody>
          <a:bodyPr wrap="square" lIns="0" tIns="0" rIns="0" bIns="0" rtlCol="0" anchor="t"/>
          <a:lstStyle/>
          <a:p>
            <a:pPr indent="0" marL="0">
              <a:buNone/>
            </a:pPr>
            <a:r>
              <a:rPr lang="en-US" sz="1100" i="1" dirty="0">
                <a:solidFill>
                  <a:srgbClr val="5F6B73"/>
                </a:solidFill>
                <a:latin typeface="Calibri" pitchFamily="34" charset="0"/>
                <a:ea typeface="Calibri" pitchFamily="34" charset="-122"/>
                <a:cs typeface="Calibri" pitchFamily="34" charset="-120"/>
              </a:rPr>
              <a:t>Frame = 4-byte length + JSON, inside TLS 1.2+  •  9 operations  •  random request_id per request</a:t>
            </a:r>
            <a:endParaRPr lang="en-US" sz="1100" dirty="0"/>
          </a:p>
        </p:txBody>
      </p:sp>
      <p:sp>
        <p:nvSpPr>
          <p:cNvPr id="18" name="TextBox 17"/>
          <p:cNvSpPr txBox="1"/>
          <p:nvPr/>
        </p:nvSpPr>
        <p:spPr>
          <a:xfrm>
            <a:off x="3246120" y="1847088"/>
            <a:ext cx="2560320" cy="228600"/>
          </a:xfrm>
          <a:prstGeom prst="rect">
            <a:avLst/>
          </a:prstGeom>
          <a:noFill/>
        </p:spPr>
        <p:txBody>
          <a:bodyPr wrap="square" lIns="0" rIns="0" tIns="0" bIns="0">
            <a:spAutoFit/>
          </a:bodyPr>
          <a:lstStyle/>
          <a:p>
            <a:pPr algn="ctr"/>
            <a:r>
              <a:rPr sz="1000" b="1">
                <a:solidFill>
                  <a:srgbClr val="2A9D8F"/>
                </a:solidFill>
                <a:latin typeface="Calibri"/>
              </a:rPr>
              <a:t>TLS 1.2+ tunnel</a:t>
            </a:r>
          </a:p>
        </p:txBody>
      </p:sp>
      <p:sp>
        <p:nvSpPr>
          <p:cNvPr id="19" name="TextBox 18"/>
          <p:cNvSpPr txBox="1"/>
          <p:nvPr/>
        </p:nvSpPr>
        <p:spPr>
          <a:xfrm>
            <a:off x="3246120" y="3904487"/>
            <a:ext cx="2560320" cy="228600"/>
          </a:xfrm>
          <a:prstGeom prst="rect">
            <a:avLst/>
          </a:prstGeom>
          <a:noFill/>
        </p:spPr>
        <p:txBody>
          <a:bodyPr wrap="square" lIns="0" rIns="0" tIns="0" bIns="0">
            <a:spAutoFit/>
          </a:bodyPr>
          <a:lstStyle/>
          <a:p>
            <a:pPr algn="ctr"/>
            <a:r>
              <a:rPr sz="1000" b="1">
                <a:solidFill>
                  <a:srgbClr val="2A9D8F"/>
                </a:solidFill>
                <a:latin typeface="Calibri"/>
              </a:rPr>
              <a:t>TLS 1.2+ tunnel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Life of a document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Upload on Layla's side, verified retrieval on Omar's side</a:t>
            </a:r>
            <a:endParaRPr lang="en-US" sz="1300" dirty="0"/>
          </a:p>
        </p:txBody>
      </p:sp>
      <p:sp>
        <p:nvSpPr>
          <p:cNvPr id="4" name="Text 2"/>
          <p:cNvSpPr txBox="1"/>
          <p:nvPr/>
        </p:nvSpPr>
        <p:spPr>
          <a:xfrm>
            <a:off x="457200" y="1280160"/>
            <a:ext cx="1828800" cy="274320"/>
          </a:xfrm>
          <a:prstGeom prst="rect">
            <a:avLst/>
          </a:prstGeom>
          <a:noFill/>
          <a:ln/>
        </p:spPr>
        <p:txBody>
          <a:bodyPr wrap="square" lIns="0" tIns="0" rIns="0" bIns="0" rtlCol="0" anchor="t"/>
          <a:lstStyle/>
          <a:p>
            <a:pPr indent="0" marL="0">
              <a:buNone/>
            </a:pPr>
            <a:r>
              <a:rPr lang="en-US" sz="1200" b="1" spc="200" kern="0" dirty="0">
                <a:solidFill>
                  <a:srgbClr val="E0A526"/>
                </a:solidFill>
                <a:latin typeface="Calibri" pitchFamily="34" charset="0"/>
                <a:ea typeface="Calibri" pitchFamily="34" charset="-122"/>
                <a:cs typeface="Calibri" pitchFamily="34" charset="-120"/>
              </a:rPr>
              <a:t>UPLOAD</a:t>
            </a:r>
            <a:endParaRPr lang="en-US" sz="1200" dirty="0"/>
          </a:p>
        </p:txBody>
      </p:sp>
      <p:sp>
        <p:nvSpPr>
          <p:cNvPr id="5" name="Text 3"/>
          <p:cNvSpPr txBox="1"/>
          <p:nvPr/>
        </p:nvSpPr>
        <p:spPr>
          <a:xfrm>
            <a:off x="457200" y="3017520"/>
            <a:ext cx="1828800" cy="274320"/>
          </a:xfrm>
          <a:prstGeom prst="rect">
            <a:avLst/>
          </a:prstGeom>
          <a:noFill/>
          <a:ln/>
        </p:spPr>
        <p:txBody>
          <a:bodyPr wrap="square" lIns="0" tIns="0" rIns="0" bIns="0" rtlCol="0" anchor="t"/>
          <a:lstStyle/>
          <a:p>
            <a:pPr indent="0" marL="0">
              <a:buNone/>
            </a:pPr>
            <a:r>
              <a:rPr lang="en-US" sz="1200" b="1" spc="200" kern="0" dirty="0">
                <a:solidFill>
                  <a:srgbClr val="2A9D8F"/>
                </a:solidFill>
                <a:latin typeface="Calibri" pitchFamily="34" charset="0"/>
                <a:ea typeface="Calibri" pitchFamily="34" charset="-122"/>
                <a:cs typeface="Calibri" pitchFamily="34" charset="-120"/>
              </a:rPr>
              <a:t>RETRIEVE</a:t>
            </a:r>
            <a:endParaRPr lang="en-US" sz="1200" dirty="0"/>
          </a:p>
        </p:txBody>
      </p:sp>
      <p:sp>
        <p:nvSpPr>
          <p:cNvPr id="6" name="Shape 4"/>
          <p:cNvSpPr/>
          <p:nvPr/>
        </p:nvSpPr>
        <p:spPr>
          <a:xfrm>
            <a:off x="457200" y="1645920"/>
            <a:ext cx="1234440" cy="960120"/>
          </a:xfrm>
          <a:prstGeom prst="roundRect">
            <a:avLst>
              <a:gd name="adj" fmla="val 5714"/>
            </a:avLst>
          </a:prstGeom>
          <a:solidFill>
            <a:srgbClr val="F3F5F6"/>
          </a:solidFill>
          <a:ln w="15240">
            <a:solidFill>
              <a:srgbClr val="E0A526"/>
            </a:solidFill>
            <a:prstDash val="solid"/>
          </a:ln>
        </p:spPr>
      </p:sp>
      <p:sp>
        <p:nvSpPr>
          <p:cNvPr id="7" name="Text 5"/>
          <p:cNvSpPr txBox="1"/>
          <p:nvPr/>
        </p:nvSpPr>
        <p:spPr>
          <a:xfrm>
            <a:off x="548640"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548640"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New random K_enc, K_mac</a:t>
            </a:r>
            <a:endParaRPr lang="en-US" sz="1100" dirty="0"/>
          </a:p>
        </p:txBody>
      </p:sp>
      <p:sp>
        <p:nvSpPr>
          <p:cNvPr id="9" name="Shape 7"/>
          <p:cNvSpPr/>
          <p:nvPr/>
        </p:nvSpPr>
        <p:spPr>
          <a:xfrm>
            <a:off x="1709928" y="2121408"/>
            <a:ext cx="128016" cy="0"/>
          </a:xfrm>
          <a:prstGeom prst="line">
            <a:avLst/>
          </a:prstGeom>
          <a:noFill/>
          <a:ln w="19050">
            <a:solidFill>
              <a:srgbClr val="E0A526"/>
            </a:solidFill>
            <a:prstDash val="solid"/>
            <a:tailEnd type="triangle"/>
          </a:ln>
        </p:spPr>
      </p:sp>
      <p:sp>
        <p:nvSpPr>
          <p:cNvPr id="10" name="Shape 8"/>
          <p:cNvSpPr/>
          <p:nvPr/>
        </p:nvSpPr>
        <p:spPr>
          <a:xfrm>
            <a:off x="1856232" y="1645920"/>
            <a:ext cx="1234440" cy="960120"/>
          </a:xfrm>
          <a:prstGeom prst="roundRect">
            <a:avLst>
              <a:gd name="adj" fmla="val 5714"/>
            </a:avLst>
          </a:prstGeom>
          <a:solidFill>
            <a:srgbClr val="F3F5F6"/>
          </a:solidFill>
          <a:ln w="15240">
            <a:solidFill>
              <a:srgbClr val="E0A526"/>
            </a:solidFill>
            <a:prstDash val="solid"/>
          </a:ln>
        </p:spPr>
      </p:sp>
      <p:sp>
        <p:nvSpPr>
          <p:cNvPr id="11" name="Text 9"/>
          <p:cNvSpPr txBox="1"/>
          <p:nvPr/>
        </p:nvSpPr>
        <p:spPr>
          <a:xfrm>
            <a:off x="1947672"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947672"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AES-256-CBC, random IV</a:t>
            </a:r>
            <a:endParaRPr lang="en-US" sz="1100" dirty="0"/>
          </a:p>
        </p:txBody>
      </p:sp>
      <p:sp>
        <p:nvSpPr>
          <p:cNvPr id="13" name="Shape 11"/>
          <p:cNvSpPr/>
          <p:nvPr/>
        </p:nvSpPr>
        <p:spPr>
          <a:xfrm>
            <a:off x="3108960" y="2121408"/>
            <a:ext cx="128016" cy="0"/>
          </a:xfrm>
          <a:prstGeom prst="line">
            <a:avLst/>
          </a:prstGeom>
          <a:noFill/>
          <a:ln w="19050">
            <a:solidFill>
              <a:srgbClr val="E0A526"/>
            </a:solidFill>
            <a:prstDash val="solid"/>
            <a:tailEnd type="triangle"/>
          </a:ln>
        </p:spPr>
      </p:sp>
      <p:sp>
        <p:nvSpPr>
          <p:cNvPr id="14" name="Shape 12"/>
          <p:cNvSpPr/>
          <p:nvPr/>
        </p:nvSpPr>
        <p:spPr>
          <a:xfrm>
            <a:off x="3255264" y="1645920"/>
            <a:ext cx="1234440" cy="960120"/>
          </a:xfrm>
          <a:prstGeom prst="roundRect">
            <a:avLst>
              <a:gd name="adj" fmla="val 5714"/>
            </a:avLst>
          </a:prstGeom>
          <a:solidFill>
            <a:srgbClr val="F3F5F6"/>
          </a:solidFill>
          <a:ln w="15240">
            <a:solidFill>
              <a:srgbClr val="E0A526"/>
            </a:solidFill>
            <a:prstDash val="solid"/>
          </a:ln>
        </p:spPr>
      </p:sp>
      <p:sp>
        <p:nvSpPr>
          <p:cNvPr id="15" name="Text 13"/>
          <p:cNvSpPr txBox="1"/>
          <p:nvPr/>
        </p:nvSpPr>
        <p:spPr>
          <a:xfrm>
            <a:off x="3346704"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3346704"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HMAC over meta | IV | ct</a:t>
            </a:r>
            <a:endParaRPr lang="en-US" sz="1100" dirty="0"/>
          </a:p>
        </p:txBody>
      </p:sp>
      <p:sp>
        <p:nvSpPr>
          <p:cNvPr id="17" name="Shape 15"/>
          <p:cNvSpPr/>
          <p:nvPr/>
        </p:nvSpPr>
        <p:spPr>
          <a:xfrm>
            <a:off x="4507992" y="2121408"/>
            <a:ext cx="128016" cy="0"/>
          </a:xfrm>
          <a:prstGeom prst="line">
            <a:avLst/>
          </a:prstGeom>
          <a:noFill/>
          <a:ln w="19050">
            <a:solidFill>
              <a:srgbClr val="E0A526"/>
            </a:solidFill>
            <a:prstDash val="solid"/>
            <a:tailEnd type="triangle"/>
          </a:ln>
        </p:spPr>
      </p:sp>
      <p:sp>
        <p:nvSpPr>
          <p:cNvPr id="18" name="Shape 16"/>
          <p:cNvSpPr/>
          <p:nvPr/>
        </p:nvSpPr>
        <p:spPr>
          <a:xfrm>
            <a:off x="4654296" y="1645920"/>
            <a:ext cx="1234440" cy="960120"/>
          </a:xfrm>
          <a:prstGeom prst="roundRect">
            <a:avLst>
              <a:gd name="adj" fmla="val 5714"/>
            </a:avLst>
          </a:prstGeom>
          <a:solidFill>
            <a:srgbClr val="F3F5F6"/>
          </a:solidFill>
          <a:ln w="15240">
            <a:solidFill>
              <a:srgbClr val="E0A526"/>
            </a:solidFill>
            <a:prstDash val="solid"/>
          </a:ln>
        </p:spPr>
      </p:sp>
      <p:sp>
        <p:nvSpPr>
          <p:cNvPr id="19" name="Text 17"/>
          <p:cNvSpPr txBox="1"/>
          <p:nvPr/>
        </p:nvSpPr>
        <p:spPr>
          <a:xfrm>
            <a:off x="4745736"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4745736"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Ed25519 sign hash + meta</a:t>
            </a:r>
            <a:endParaRPr lang="en-US" sz="1100" dirty="0"/>
          </a:p>
        </p:txBody>
      </p:sp>
      <p:sp>
        <p:nvSpPr>
          <p:cNvPr id="21" name="Shape 19"/>
          <p:cNvSpPr/>
          <p:nvPr/>
        </p:nvSpPr>
        <p:spPr>
          <a:xfrm>
            <a:off x="5907024" y="2121408"/>
            <a:ext cx="128016" cy="0"/>
          </a:xfrm>
          <a:prstGeom prst="line">
            <a:avLst/>
          </a:prstGeom>
          <a:noFill/>
          <a:ln w="19050">
            <a:solidFill>
              <a:srgbClr val="E0A526"/>
            </a:solidFill>
            <a:prstDash val="solid"/>
            <a:tailEnd type="triangle"/>
          </a:ln>
        </p:spPr>
      </p:sp>
      <p:sp>
        <p:nvSpPr>
          <p:cNvPr id="22" name="Shape 20"/>
          <p:cNvSpPr/>
          <p:nvPr/>
        </p:nvSpPr>
        <p:spPr>
          <a:xfrm>
            <a:off x="6053328" y="1645920"/>
            <a:ext cx="1234440" cy="960120"/>
          </a:xfrm>
          <a:prstGeom prst="roundRect">
            <a:avLst>
              <a:gd name="adj" fmla="val 5714"/>
            </a:avLst>
          </a:prstGeom>
          <a:solidFill>
            <a:srgbClr val="F3F5F6"/>
          </a:solidFill>
          <a:ln w="15240">
            <a:solidFill>
              <a:srgbClr val="E0A526"/>
            </a:solidFill>
            <a:prstDash val="solid"/>
          </a:ln>
        </p:spPr>
      </p:sp>
      <p:sp>
        <p:nvSpPr>
          <p:cNvPr id="23" name="Text 21"/>
          <p:cNvSpPr txBox="1"/>
          <p:nvPr/>
        </p:nvSpPr>
        <p:spPr>
          <a:xfrm>
            <a:off x="6144768"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144768"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Wrap keys for Omar</a:t>
            </a:r>
            <a:endParaRPr lang="en-US" sz="1100" dirty="0"/>
          </a:p>
        </p:txBody>
      </p:sp>
      <p:sp>
        <p:nvSpPr>
          <p:cNvPr id="25" name="Shape 23"/>
          <p:cNvSpPr/>
          <p:nvPr/>
        </p:nvSpPr>
        <p:spPr>
          <a:xfrm>
            <a:off x="7306056" y="2121408"/>
            <a:ext cx="128016" cy="0"/>
          </a:xfrm>
          <a:prstGeom prst="line">
            <a:avLst/>
          </a:prstGeom>
          <a:noFill/>
          <a:ln w="19050">
            <a:solidFill>
              <a:srgbClr val="E0A526"/>
            </a:solidFill>
            <a:prstDash val="solid"/>
            <a:tailEnd type="triangle"/>
          </a:ln>
        </p:spPr>
      </p:sp>
      <p:sp>
        <p:nvSpPr>
          <p:cNvPr id="26" name="Shape 24"/>
          <p:cNvSpPr/>
          <p:nvPr/>
        </p:nvSpPr>
        <p:spPr>
          <a:xfrm>
            <a:off x="7452360" y="1645920"/>
            <a:ext cx="1234440" cy="960120"/>
          </a:xfrm>
          <a:prstGeom prst="roundRect">
            <a:avLst>
              <a:gd name="adj" fmla="val 5714"/>
            </a:avLst>
          </a:prstGeom>
          <a:solidFill>
            <a:srgbClr val="F3F5F6"/>
          </a:solidFill>
          <a:ln w="15240">
            <a:solidFill>
              <a:srgbClr val="E0A526"/>
            </a:solidFill>
            <a:prstDash val="solid"/>
          </a:ln>
        </p:spPr>
      </p:sp>
      <p:sp>
        <p:nvSpPr>
          <p:cNvPr id="27" name="Text 25"/>
          <p:cNvSpPr txBox="1"/>
          <p:nvPr/>
        </p:nvSpPr>
        <p:spPr>
          <a:xfrm>
            <a:off x="7543800" y="1719072"/>
            <a:ext cx="365760" cy="274320"/>
          </a:xfrm>
          <a:prstGeom prst="rect">
            <a:avLst/>
          </a:prstGeom>
          <a:noFill/>
          <a:ln/>
        </p:spPr>
        <p:txBody>
          <a:bodyPr wrap="square" lIns="0" tIns="0" rIns="0" bIns="0" rtlCol="0" anchor="t"/>
          <a:lstStyle/>
          <a:p>
            <a:pPr indent="0" marL="0">
              <a:buNone/>
            </a:pPr>
            <a:r>
              <a:rPr lang="en-US" sz="1300" b="1" dirty="0">
                <a:solidFill>
                  <a:srgbClr val="E0A526"/>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7543800" y="201168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Upload + share</a:t>
            </a:r>
            <a:endParaRPr lang="en-US" sz="1100" dirty="0"/>
          </a:p>
        </p:txBody>
      </p:sp>
      <p:sp>
        <p:nvSpPr>
          <p:cNvPr id="29" name="Shape 27"/>
          <p:cNvSpPr/>
          <p:nvPr/>
        </p:nvSpPr>
        <p:spPr>
          <a:xfrm>
            <a:off x="457200" y="3383280"/>
            <a:ext cx="1234440" cy="960120"/>
          </a:xfrm>
          <a:prstGeom prst="roundRect">
            <a:avLst>
              <a:gd name="adj" fmla="val 5714"/>
            </a:avLst>
          </a:prstGeom>
          <a:solidFill>
            <a:srgbClr val="F3F5F6"/>
          </a:solidFill>
          <a:ln w="15240">
            <a:solidFill>
              <a:srgbClr val="2A9D8F"/>
            </a:solidFill>
            <a:prstDash val="solid"/>
          </a:ln>
        </p:spPr>
      </p:sp>
      <p:sp>
        <p:nvSpPr>
          <p:cNvPr id="30" name="Text 28"/>
          <p:cNvSpPr txBox="1"/>
          <p:nvPr/>
        </p:nvSpPr>
        <p:spPr>
          <a:xfrm>
            <a:off x="548640" y="3456432"/>
            <a:ext cx="3657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1</a:t>
            </a:r>
            <a:endParaRPr lang="en-US" sz="1300" dirty="0"/>
          </a:p>
        </p:txBody>
      </p:sp>
      <p:sp>
        <p:nvSpPr>
          <p:cNvPr id="31" name="Text 29"/>
          <p:cNvSpPr txBox="1"/>
          <p:nvPr/>
        </p:nvSpPr>
        <p:spPr>
          <a:xfrm>
            <a:off x="548640" y="374904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Unwrap keys</a:t>
            </a:r>
            <a:endParaRPr lang="en-US" sz="1100" dirty="0"/>
          </a:p>
        </p:txBody>
      </p:sp>
      <p:sp>
        <p:nvSpPr>
          <p:cNvPr id="32" name="Shape 30"/>
          <p:cNvSpPr/>
          <p:nvPr/>
        </p:nvSpPr>
        <p:spPr>
          <a:xfrm>
            <a:off x="1709928" y="3858768"/>
            <a:ext cx="128016" cy="0"/>
          </a:xfrm>
          <a:prstGeom prst="line">
            <a:avLst/>
          </a:prstGeom>
          <a:noFill/>
          <a:ln w="19050">
            <a:solidFill>
              <a:srgbClr val="2A9D8F"/>
            </a:solidFill>
            <a:prstDash val="solid"/>
            <a:tailEnd type="triangle"/>
          </a:ln>
        </p:spPr>
      </p:sp>
      <p:sp>
        <p:nvSpPr>
          <p:cNvPr id="33" name="Shape 31"/>
          <p:cNvSpPr/>
          <p:nvPr/>
        </p:nvSpPr>
        <p:spPr>
          <a:xfrm>
            <a:off x="1856232" y="3383280"/>
            <a:ext cx="1234440" cy="960120"/>
          </a:xfrm>
          <a:prstGeom prst="roundRect">
            <a:avLst>
              <a:gd name="adj" fmla="val 5714"/>
            </a:avLst>
          </a:prstGeom>
          <a:solidFill>
            <a:srgbClr val="F3F5F6"/>
          </a:solidFill>
          <a:ln w="15240">
            <a:solidFill>
              <a:srgbClr val="2A9D8F"/>
            </a:solidFill>
            <a:prstDash val="solid"/>
          </a:ln>
        </p:spPr>
      </p:sp>
      <p:sp>
        <p:nvSpPr>
          <p:cNvPr id="34" name="Text 32"/>
          <p:cNvSpPr txBox="1"/>
          <p:nvPr/>
        </p:nvSpPr>
        <p:spPr>
          <a:xfrm>
            <a:off x="1947672" y="3456432"/>
            <a:ext cx="3657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2</a:t>
            </a:r>
            <a:endParaRPr lang="en-US" sz="1300" dirty="0"/>
          </a:p>
        </p:txBody>
      </p:sp>
      <p:sp>
        <p:nvSpPr>
          <p:cNvPr id="35" name="Text 33"/>
          <p:cNvSpPr txBox="1"/>
          <p:nvPr/>
        </p:nvSpPr>
        <p:spPr>
          <a:xfrm>
            <a:off x="1947672" y="374904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Check HMAC first</a:t>
            </a:r>
            <a:endParaRPr lang="en-US" sz="1100" dirty="0"/>
          </a:p>
        </p:txBody>
      </p:sp>
      <p:sp>
        <p:nvSpPr>
          <p:cNvPr id="36" name="Shape 34"/>
          <p:cNvSpPr/>
          <p:nvPr/>
        </p:nvSpPr>
        <p:spPr>
          <a:xfrm>
            <a:off x="3108960" y="3858768"/>
            <a:ext cx="128016" cy="0"/>
          </a:xfrm>
          <a:prstGeom prst="line">
            <a:avLst/>
          </a:prstGeom>
          <a:noFill/>
          <a:ln w="19050">
            <a:solidFill>
              <a:srgbClr val="2A9D8F"/>
            </a:solidFill>
            <a:prstDash val="solid"/>
            <a:tailEnd type="triangle"/>
          </a:ln>
        </p:spPr>
      </p:sp>
      <p:sp>
        <p:nvSpPr>
          <p:cNvPr id="37" name="Shape 35"/>
          <p:cNvSpPr/>
          <p:nvPr/>
        </p:nvSpPr>
        <p:spPr>
          <a:xfrm>
            <a:off x="3255264" y="3383280"/>
            <a:ext cx="1234440" cy="960120"/>
          </a:xfrm>
          <a:prstGeom prst="roundRect">
            <a:avLst>
              <a:gd name="adj" fmla="val 5714"/>
            </a:avLst>
          </a:prstGeom>
          <a:solidFill>
            <a:srgbClr val="F3F5F6"/>
          </a:solidFill>
          <a:ln w="15240">
            <a:solidFill>
              <a:srgbClr val="2A9D8F"/>
            </a:solidFill>
            <a:prstDash val="solid"/>
          </a:ln>
        </p:spPr>
      </p:sp>
      <p:sp>
        <p:nvSpPr>
          <p:cNvPr id="38" name="Text 36"/>
          <p:cNvSpPr txBox="1"/>
          <p:nvPr/>
        </p:nvSpPr>
        <p:spPr>
          <a:xfrm>
            <a:off x="3346704" y="3456432"/>
            <a:ext cx="3657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3</a:t>
            </a:r>
            <a:endParaRPr lang="en-US" sz="1300" dirty="0"/>
          </a:p>
        </p:txBody>
      </p:sp>
      <p:sp>
        <p:nvSpPr>
          <p:cNvPr id="39" name="Text 37"/>
          <p:cNvSpPr txBox="1"/>
          <p:nvPr/>
        </p:nvSpPr>
        <p:spPr>
          <a:xfrm>
            <a:off x="3346704" y="374904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Decrypt</a:t>
            </a:r>
            <a:endParaRPr lang="en-US" sz="1100" dirty="0"/>
          </a:p>
        </p:txBody>
      </p:sp>
      <p:sp>
        <p:nvSpPr>
          <p:cNvPr id="40" name="Shape 38"/>
          <p:cNvSpPr/>
          <p:nvPr/>
        </p:nvSpPr>
        <p:spPr>
          <a:xfrm>
            <a:off x="4507992" y="3858768"/>
            <a:ext cx="128016" cy="0"/>
          </a:xfrm>
          <a:prstGeom prst="line">
            <a:avLst/>
          </a:prstGeom>
          <a:noFill/>
          <a:ln w="19050">
            <a:solidFill>
              <a:srgbClr val="2A9D8F"/>
            </a:solidFill>
            <a:prstDash val="solid"/>
            <a:tailEnd type="triangle"/>
          </a:ln>
        </p:spPr>
      </p:sp>
      <p:sp>
        <p:nvSpPr>
          <p:cNvPr id="41" name="Shape 39"/>
          <p:cNvSpPr/>
          <p:nvPr/>
        </p:nvSpPr>
        <p:spPr>
          <a:xfrm>
            <a:off x="4654296" y="3383280"/>
            <a:ext cx="1234440" cy="960120"/>
          </a:xfrm>
          <a:prstGeom prst="roundRect">
            <a:avLst>
              <a:gd name="adj" fmla="val 5714"/>
            </a:avLst>
          </a:prstGeom>
          <a:solidFill>
            <a:srgbClr val="F3F5F6"/>
          </a:solidFill>
          <a:ln w="15240">
            <a:solidFill>
              <a:srgbClr val="2A9D8F"/>
            </a:solidFill>
            <a:prstDash val="solid"/>
          </a:ln>
        </p:spPr>
      </p:sp>
      <p:sp>
        <p:nvSpPr>
          <p:cNvPr id="42" name="Text 40"/>
          <p:cNvSpPr txBox="1"/>
          <p:nvPr/>
        </p:nvSpPr>
        <p:spPr>
          <a:xfrm>
            <a:off x="4745736" y="3456432"/>
            <a:ext cx="3657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4</a:t>
            </a:r>
            <a:endParaRPr lang="en-US" sz="1300" dirty="0"/>
          </a:p>
        </p:txBody>
      </p:sp>
      <p:sp>
        <p:nvSpPr>
          <p:cNvPr id="43" name="Text 41"/>
          <p:cNvSpPr txBox="1"/>
          <p:nvPr/>
        </p:nvSpPr>
        <p:spPr>
          <a:xfrm>
            <a:off x="4745736" y="374904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Check metadata binding</a:t>
            </a:r>
            <a:endParaRPr lang="en-US" sz="1100" dirty="0"/>
          </a:p>
        </p:txBody>
      </p:sp>
      <p:sp>
        <p:nvSpPr>
          <p:cNvPr id="44" name="Shape 42"/>
          <p:cNvSpPr/>
          <p:nvPr/>
        </p:nvSpPr>
        <p:spPr>
          <a:xfrm>
            <a:off x="5907024" y="3858768"/>
            <a:ext cx="128016" cy="0"/>
          </a:xfrm>
          <a:prstGeom prst="line">
            <a:avLst/>
          </a:prstGeom>
          <a:noFill/>
          <a:ln w="19050">
            <a:solidFill>
              <a:srgbClr val="2A9D8F"/>
            </a:solidFill>
            <a:prstDash val="solid"/>
            <a:tailEnd type="triangle"/>
          </a:ln>
        </p:spPr>
      </p:sp>
      <p:sp>
        <p:nvSpPr>
          <p:cNvPr id="45" name="Shape 43"/>
          <p:cNvSpPr/>
          <p:nvPr/>
        </p:nvSpPr>
        <p:spPr>
          <a:xfrm>
            <a:off x="6053328" y="3383280"/>
            <a:ext cx="1234440" cy="960120"/>
          </a:xfrm>
          <a:prstGeom prst="roundRect">
            <a:avLst>
              <a:gd name="adj" fmla="val 5714"/>
            </a:avLst>
          </a:prstGeom>
          <a:solidFill>
            <a:srgbClr val="F3F5F6"/>
          </a:solidFill>
          <a:ln w="15240">
            <a:solidFill>
              <a:srgbClr val="2A9D8F"/>
            </a:solidFill>
            <a:prstDash val="solid"/>
          </a:ln>
        </p:spPr>
      </p:sp>
      <p:sp>
        <p:nvSpPr>
          <p:cNvPr id="46" name="Text 44"/>
          <p:cNvSpPr txBox="1"/>
          <p:nvPr/>
        </p:nvSpPr>
        <p:spPr>
          <a:xfrm>
            <a:off x="6144768" y="3456432"/>
            <a:ext cx="365760" cy="274320"/>
          </a:xfrm>
          <a:prstGeom prst="rect">
            <a:avLst/>
          </a:prstGeom>
          <a:noFill/>
          <a:ln/>
        </p:spPr>
        <p:txBody>
          <a:bodyPr wrap="square" lIns="0" tIns="0" rIns="0" bIns="0" rtlCol="0" anchor="t"/>
          <a:lstStyle/>
          <a:p>
            <a:pPr indent="0" marL="0">
              <a:buNone/>
            </a:pPr>
            <a:r>
              <a:rPr lang="en-US" sz="1300" b="1" dirty="0">
                <a:solidFill>
                  <a:srgbClr val="2A9D8F"/>
                </a:solidFill>
                <a:latin typeface="Calibri" pitchFamily="34" charset="0"/>
                <a:ea typeface="Calibri" pitchFamily="34" charset="-122"/>
                <a:cs typeface="Calibri" pitchFamily="34" charset="-120"/>
              </a:rPr>
              <a:t>5</a:t>
            </a:r>
            <a:endParaRPr lang="en-US" sz="1300" dirty="0"/>
          </a:p>
        </p:txBody>
      </p:sp>
      <p:sp>
        <p:nvSpPr>
          <p:cNvPr id="47" name="Text 45"/>
          <p:cNvSpPr txBox="1"/>
          <p:nvPr/>
        </p:nvSpPr>
        <p:spPr>
          <a:xfrm>
            <a:off x="6144768" y="3749040"/>
            <a:ext cx="1051560" cy="548640"/>
          </a:xfrm>
          <a:prstGeom prst="rect">
            <a:avLst/>
          </a:prstGeom>
          <a:noFill/>
          <a:ln/>
        </p:spPr>
        <p:txBody>
          <a:bodyPr wrap="square" lIns="0" tIns="0" rIns="0" bIns="0" rtlCol="0" anchor="t"/>
          <a:lstStyle/>
          <a:p>
            <a:pPr indent="0" marL="0">
              <a:buNone/>
            </a:pPr>
            <a:r>
              <a:rPr lang="en-US" sz="1100" dirty="0">
                <a:solidFill>
                  <a:srgbClr val="1E2328"/>
                </a:solidFill>
                <a:latin typeface="Calibri" pitchFamily="34" charset="0"/>
                <a:ea typeface="Calibri" pitchFamily="34" charset="-122"/>
                <a:cs typeface="Calibri" pitchFamily="34" charset="-120"/>
              </a:rPr>
              <a:t>Verify signature</a:t>
            </a:r>
            <a:endParaRPr lang="en-US" sz="1100" dirty="0"/>
          </a:p>
        </p:txBody>
      </p:sp>
      <p:sp>
        <p:nvSpPr>
          <p:cNvPr id="48" name="Shape 46"/>
          <p:cNvSpPr/>
          <p:nvPr/>
        </p:nvSpPr>
        <p:spPr>
          <a:xfrm>
            <a:off x="7306056" y="3858768"/>
            <a:ext cx="128016" cy="0"/>
          </a:xfrm>
          <a:prstGeom prst="line">
            <a:avLst/>
          </a:prstGeom>
          <a:noFill/>
          <a:ln w="19050">
            <a:solidFill>
              <a:srgbClr val="2A9D8F"/>
            </a:solidFill>
            <a:prstDash val="solid"/>
            <a:tailEnd type="triangle"/>
          </a:ln>
        </p:spPr>
      </p:sp>
      <p:sp>
        <p:nvSpPr>
          <p:cNvPr id="49" name="Shape 47"/>
          <p:cNvSpPr/>
          <p:nvPr/>
        </p:nvSpPr>
        <p:spPr>
          <a:xfrm>
            <a:off x="7452360" y="3383280"/>
            <a:ext cx="1234440" cy="960120"/>
          </a:xfrm>
          <a:prstGeom prst="roundRect">
            <a:avLst>
              <a:gd name="adj" fmla="val 5714"/>
            </a:avLst>
          </a:prstGeom>
          <a:solidFill>
            <a:srgbClr val="2A9D8F"/>
          </a:solidFill>
          <a:ln w="15240">
            <a:solidFill>
              <a:srgbClr val="2A9D8F"/>
            </a:solidFill>
            <a:prstDash val="solid"/>
          </a:ln>
        </p:spPr>
      </p:sp>
      <p:sp>
        <p:nvSpPr>
          <p:cNvPr id="50" name="Text 48"/>
          <p:cNvSpPr txBox="1"/>
          <p:nvPr/>
        </p:nvSpPr>
        <p:spPr>
          <a:xfrm>
            <a:off x="7543800" y="3456432"/>
            <a:ext cx="36576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51" name="Text 49"/>
          <p:cNvSpPr txBox="1"/>
          <p:nvPr/>
        </p:nvSpPr>
        <p:spPr>
          <a:xfrm>
            <a:off x="7543800" y="3749040"/>
            <a:ext cx="1051560" cy="5486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Accept file</a:t>
            </a:r>
            <a:endParaRPr lang="en-US" sz="1100" dirty="0"/>
          </a:p>
        </p:txBody>
      </p:sp>
      <p:sp>
        <p:nvSpPr>
          <p:cNvPr id="52" name="Text 50"/>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200" i="1" dirty="0">
                <a:solidFill>
                  <a:srgbClr val="C0392B"/>
                </a:solidFill>
                <a:latin typeface="Calibri" pitchFamily="34" charset="0"/>
                <a:ea typeface="Calibri" pitchFamily="34" charset="-122"/>
                <a:cs typeface="Calibri" pitchFamily="34" charset="-120"/>
              </a:rPr>
              <a:t>Any failed check stops the chain: the file is refused and nothing is written to disk.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Decision 1 - Passwords: Argon2id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Memory-hard, so a GPU cannot win back the slowdown</a:t>
            </a:r>
            <a:endParaRPr lang="en-US" sz="1300" dirty="0"/>
          </a:p>
        </p:txBody>
      </p:sp>
      <p:sp>
        <p:nvSpPr>
          <p:cNvPr id="4" name="Text 2"/>
          <p:cNvSpPr txBox="1"/>
          <p:nvPr/>
        </p:nvSpPr>
        <p:spPr>
          <a:xfrm>
            <a:off x="457200" y="1371600"/>
            <a:ext cx="2651760" cy="731520"/>
          </a:xfrm>
          <a:prstGeom prst="rect">
            <a:avLst/>
          </a:prstGeom>
          <a:noFill/>
          <a:ln/>
        </p:spPr>
        <p:txBody>
          <a:bodyPr wrap="square" lIns="0" tIns="0" rIns="0" bIns="0" rtlCol="0" anchor="t"/>
          <a:lstStyle/>
          <a:p>
            <a:pPr indent="0" marL="0">
              <a:buNone/>
            </a:pPr>
            <a:r>
              <a:rPr lang="en-US" sz="4000" b="1" dirty="0">
                <a:solidFill>
                  <a:srgbClr val="E0A526"/>
                </a:solidFill>
                <a:latin typeface="Cambria" pitchFamily="34" charset="0"/>
                <a:ea typeface="Cambria" pitchFamily="34" charset="-122"/>
                <a:cs typeface="Cambria" pitchFamily="34" charset="-120"/>
              </a:rPr>
              <a:t>23.8 ms</a:t>
            </a:r>
            <a:endParaRPr lang="en-US" sz="4000" dirty="0"/>
          </a:p>
        </p:txBody>
      </p:sp>
      <p:sp>
        <p:nvSpPr>
          <p:cNvPr id="5" name="Text 3"/>
          <p:cNvSpPr txBox="1"/>
          <p:nvPr/>
        </p:nvSpPr>
        <p:spPr>
          <a:xfrm>
            <a:off x="457200" y="2103120"/>
            <a:ext cx="2651760" cy="54864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measured per guess (median of 10)</a:t>
            </a:r>
            <a:endParaRPr lang="en-US" sz="1200" dirty="0"/>
          </a:p>
          <a:p>
            <a:pPr indent="0" marL="0">
              <a:buNone/>
            </a:pPr>
            <a:r>
              <a:rPr lang="en-US" sz="1200" dirty="0">
                <a:solidFill>
                  <a:srgbClr val="5F6B73"/>
                </a:solidFill>
                <a:latin typeface="Calibri" pitchFamily="34" charset="0"/>
                <a:ea typeface="Calibri" pitchFamily="34" charset="-122"/>
                <a:cs typeface="Calibri" pitchFamily="34" charset="-120"/>
              </a:rPr>
              <a:t>32 MiB, t=1, p=1, 16 B salt</a:t>
            </a:r>
            <a:endParaRPr lang="en-US" sz="1200" dirty="0"/>
          </a:p>
        </p:txBody>
      </p:sp>
      <p:sp>
        <p:nvSpPr>
          <p:cNvPr id="6" name="Text 4"/>
          <p:cNvSpPr txBox="1"/>
          <p:nvPr/>
        </p:nvSpPr>
        <p:spPr>
          <a:xfrm>
            <a:off x="3246120" y="1371600"/>
            <a:ext cx="2651760" cy="731520"/>
          </a:xfrm>
          <a:prstGeom prst="rect">
            <a:avLst/>
          </a:prstGeom>
          <a:noFill/>
          <a:ln/>
        </p:spPr>
        <p:txBody>
          <a:bodyPr wrap="square" lIns="0" tIns="0" rIns="0" bIns="0" rtlCol="0" anchor="t"/>
          <a:lstStyle/>
          <a:p>
            <a:pPr indent="0" marL="0">
              <a:buNone/>
            </a:pPr>
            <a:r>
              <a:rPr lang="en-US" sz="4000" b="1" dirty="0">
                <a:solidFill>
                  <a:srgbClr val="2A9D8F"/>
                </a:solidFill>
                <a:latin typeface="Cambria" pitchFamily="34" charset="0"/>
                <a:ea typeface="Cambria" pitchFamily="34" charset="-122"/>
                <a:cs typeface="Cambria" pitchFamily="34" charset="-120"/>
              </a:rPr>
              <a:t>~440 yrs</a:t>
            </a:r>
            <a:endParaRPr lang="en-US" sz="4000" dirty="0"/>
          </a:p>
        </p:txBody>
      </p:sp>
      <p:sp>
        <p:nvSpPr>
          <p:cNvPr id="7" name="Text 5"/>
          <p:cNvSpPr txBox="1"/>
          <p:nvPr/>
        </p:nvSpPr>
        <p:spPr>
          <a:xfrm>
            <a:off x="3246120" y="2103120"/>
            <a:ext cx="2651760" cy="54864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one high-end GPU, random 8-char</a:t>
            </a:r>
            <a:endParaRPr lang="en-US" sz="1200" dirty="0"/>
          </a:p>
          <a:p>
            <a:pPr indent="0" marL="0">
              <a:buNone/>
            </a:pPr>
            <a:r>
              <a:rPr lang="en-US" sz="1200" dirty="0">
                <a:solidFill>
                  <a:srgbClr val="5F6B73"/>
                </a:solidFill>
                <a:latin typeface="Calibri" pitchFamily="34" charset="0"/>
                <a:ea typeface="Calibri" pitchFamily="34" charset="-122"/>
                <a:cs typeface="Calibri" pitchFamily="34" charset="-120"/>
              </a:rPr>
              <a:t>alphanumeric password (estimate)</a:t>
            </a:r>
            <a:endParaRPr lang="en-US" sz="1200" dirty="0"/>
          </a:p>
        </p:txBody>
      </p:sp>
      <p:sp>
        <p:nvSpPr>
          <p:cNvPr id="8" name="Text 6"/>
          <p:cNvSpPr txBox="1"/>
          <p:nvPr/>
        </p:nvSpPr>
        <p:spPr>
          <a:xfrm>
            <a:off x="6035040" y="1371600"/>
            <a:ext cx="2651760" cy="731520"/>
          </a:xfrm>
          <a:prstGeom prst="rect">
            <a:avLst/>
          </a:prstGeom>
          <a:noFill/>
          <a:ln/>
        </p:spPr>
        <p:txBody>
          <a:bodyPr wrap="square" lIns="0" tIns="0" rIns="0" bIns="0" rtlCol="0" anchor="t"/>
          <a:lstStyle/>
          <a:p>
            <a:pPr indent="0" marL="0">
              <a:buNone/>
            </a:pPr>
            <a:r>
              <a:rPr lang="en-US" sz="4000" b="1" dirty="0">
                <a:solidFill>
                  <a:srgbClr val="C0392B"/>
                </a:solidFill>
                <a:latin typeface="Cambria" pitchFamily="34" charset="0"/>
                <a:ea typeface="Cambria" pitchFamily="34" charset="-122"/>
                <a:cs typeface="Cambria" pitchFamily="34" charset="-120"/>
              </a:rPr>
              <a:t>83 min</a:t>
            </a:r>
            <a:endParaRPr lang="en-US" sz="4000" dirty="0"/>
          </a:p>
        </p:txBody>
      </p:sp>
      <p:sp>
        <p:nvSpPr>
          <p:cNvPr id="9" name="Text 7"/>
          <p:cNvSpPr txBox="1"/>
          <p:nvPr/>
        </p:nvSpPr>
        <p:spPr>
          <a:xfrm>
            <a:off x="6035040" y="2103120"/>
            <a:ext cx="2651760" cy="54864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same attack if we had used a</a:t>
            </a:r>
            <a:endParaRPr lang="en-US" sz="1200" dirty="0"/>
          </a:p>
          <a:p>
            <a:pPr indent="0" marL="0">
              <a:buNone/>
            </a:pPr>
            <a:r>
              <a:rPr lang="en-US" sz="1200" dirty="0">
                <a:solidFill>
                  <a:srgbClr val="5F6B73"/>
                </a:solidFill>
                <a:latin typeface="Calibri" pitchFamily="34" charset="0"/>
                <a:ea typeface="Calibri" pitchFamily="34" charset="-122"/>
                <a:cs typeface="Calibri" pitchFamily="34" charset="-120"/>
              </a:rPr>
              <a:t>bare SHA-256</a:t>
            </a:r>
            <a:endParaRPr lang="en-US" sz="1200" dirty="0"/>
          </a:p>
        </p:txBody>
      </p:sp>
      <p:sp>
        <p:nvSpPr>
          <p:cNvPr id="10" name="Shape 8"/>
          <p:cNvSpPr/>
          <p:nvPr/>
        </p:nvSpPr>
        <p:spPr>
          <a:xfrm>
            <a:off x="457200" y="2926080"/>
            <a:ext cx="8229600" cy="1783080"/>
          </a:xfrm>
          <a:prstGeom prst="roundRect">
            <a:avLst>
              <a:gd name="adj" fmla="val 4103"/>
            </a:avLst>
          </a:prstGeom>
          <a:solidFill>
            <a:srgbClr val="F3F5F6"/>
          </a:solidFill>
          <a:ln w="12700">
            <a:solidFill>
              <a:srgbClr val="F3F5F6"/>
            </a:solidFill>
            <a:prstDash val="solid"/>
          </a:ln>
        </p:spPr>
      </p:sp>
      <p:sp>
        <p:nvSpPr>
          <p:cNvPr id="11" name="Text 9"/>
          <p:cNvSpPr txBox="1"/>
          <p:nvPr/>
        </p:nvSpPr>
        <p:spPr>
          <a:xfrm>
            <a:off x="685800" y="3063240"/>
            <a:ext cx="7772400" cy="1554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Server stores only salt, parameters and a login PUBLIC key; the password never leaves the client.</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Login = challenge-response: fresh 32 B nonce + server ephemeral X25519 key, single-use, 60 s expiry.</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Unknown users get a fake but stable salt, and the same error "AUTHENTICATION_FAILED".</a:t>
            </a:r>
            <a:endParaRPr lang="en-US" sz="1250" dirty="0"/>
          </a:p>
          <a:p>
            <a:pPr marL="342900" indent="-342900">
              <a:spcAft>
                <a:spcPts val="600"/>
              </a:spcAft>
              <a:buSzPct val="100000"/>
              <a:buChar char="•"/>
            </a:pPr>
            <a:r>
              <a:rPr lang="en-US" sz="1250" dirty="0">
                <a:solidFill>
                  <a:srgbClr val="1E2328"/>
                </a:solidFill>
                <a:latin typeface="Calibri" pitchFamily="34" charset="0"/>
                <a:ea typeface="Calibri" pitchFamily="34" charset="-122"/>
                <a:cs typeface="Calibri" pitchFamily="34" charset="-120"/>
              </a:rPr>
              <a:t>Rejected: PBKDF2 (not memory-hard), bcrypt (fixed 4 KiB), scrypt (less standard parameters).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Decision 2 - Contents: AES-256-CBC + HMAC-SHA256</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Written from scratch, composed as Encrypt-then-MAC</a:t>
            </a:r>
            <a:endParaRPr lang="en-US" sz="1300" dirty="0"/>
          </a:p>
        </p:txBody>
      </p:sp>
      <p:sp>
        <p:nvSpPr>
          <p:cNvPr id="4" name="Shape 2"/>
          <p:cNvSpPr/>
          <p:nvPr/>
        </p:nvSpPr>
        <p:spPr>
          <a:xfrm>
            <a:off x="457200" y="1325880"/>
            <a:ext cx="2606040" cy="1600200"/>
          </a:xfrm>
          <a:prstGeom prst="roundRect">
            <a:avLst>
              <a:gd name="adj" fmla="val 4571"/>
            </a:avLst>
          </a:prstGeom>
          <a:solidFill>
            <a:srgbClr val="F3F5F6"/>
          </a:solidFill>
          <a:ln w="12700">
            <a:solidFill>
              <a:srgbClr val="F3F5F6"/>
            </a:solidFill>
            <a:prstDash val="solid"/>
          </a:ln>
        </p:spPr>
      </p:sp>
      <p:sp>
        <p:nvSpPr>
          <p:cNvPr id="5" name="Text 3"/>
          <p:cNvSpPr txBox="1"/>
          <p:nvPr/>
        </p:nvSpPr>
        <p:spPr>
          <a:xfrm>
            <a:off x="640080" y="1463040"/>
            <a:ext cx="2286000" cy="320040"/>
          </a:xfrm>
          <a:prstGeom prst="rect">
            <a:avLst/>
          </a:prstGeom>
          <a:noFill/>
          <a:ln/>
        </p:spPr>
        <p:txBody>
          <a:bodyPr wrap="square" lIns="0" tIns="0" rIns="0" bIns="0" rtlCol="0" anchor="t"/>
          <a:lstStyle/>
          <a:p>
            <a:pPr indent="0" marL="0">
              <a:buNone/>
            </a:pPr>
            <a:r>
              <a:rPr lang="en-US" sz="1500" b="1" dirty="0">
                <a:solidFill>
                  <a:srgbClr val="2A9D8F"/>
                </a:solidFill>
                <a:latin typeface="Calibri" pitchFamily="34" charset="0"/>
                <a:ea typeface="Calibri" pitchFamily="34" charset="-122"/>
                <a:cs typeface="Calibri" pitchFamily="34" charset="-120"/>
              </a:rPr>
              <a:t>Encrypt-then-MAC</a:t>
            </a:r>
            <a:endParaRPr lang="en-US" sz="1500" dirty="0"/>
          </a:p>
        </p:txBody>
      </p:sp>
      <p:sp>
        <p:nvSpPr>
          <p:cNvPr id="6" name="Text 4"/>
          <p:cNvSpPr txBox="1"/>
          <p:nvPr/>
        </p:nvSpPr>
        <p:spPr>
          <a:xfrm>
            <a:off x="640080" y="1828800"/>
            <a:ext cx="2286000" cy="105156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Chosen. MAC is checked before decryption, so tampered data never reaches the padding code: no padding oracle.</a:t>
            </a:r>
            <a:endParaRPr lang="en-US" sz="1200" dirty="0"/>
          </a:p>
        </p:txBody>
      </p:sp>
      <p:sp>
        <p:nvSpPr>
          <p:cNvPr id="7" name="Shape 5"/>
          <p:cNvSpPr/>
          <p:nvPr/>
        </p:nvSpPr>
        <p:spPr>
          <a:xfrm>
            <a:off x="3246120" y="1325880"/>
            <a:ext cx="2606040" cy="1600200"/>
          </a:xfrm>
          <a:prstGeom prst="roundRect">
            <a:avLst>
              <a:gd name="adj" fmla="val 4571"/>
            </a:avLst>
          </a:prstGeom>
          <a:solidFill>
            <a:srgbClr val="F3F5F6"/>
          </a:solidFill>
          <a:ln w="12700">
            <a:solidFill>
              <a:srgbClr val="F3F5F6"/>
            </a:solidFill>
            <a:prstDash val="solid"/>
          </a:ln>
        </p:spPr>
      </p:sp>
      <p:sp>
        <p:nvSpPr>
          <p:cNvPr id="8" name="Text 6"/>
          <p:cNvSpPr txBox="1"/>
          <p:nvPr/>
        </p:nvSpPr>
        <p:spPr>
          <a:xfrm>
            <a:off x="3429000" y="1463040"/>
            <a:ext cx="2286000" cy="3200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MAC-then-Encrypt</a:t>
            </a:r>
            <a:endParaRPr lang="en-US" sz="1500" dirty="0"/>
          </a:p>
        </p:txBody>
      </p:sp>
      <p:sp>
        <p:nvSpPr>
          <p:cNvPr id="9" name="Text 7"/>
          <p:cNvSpPr txBox="1"/>
          <p:nvPr/>
        </p:nvSpPr>
        <p:spPr>
          <a:xfrm>
            <a:off x="3429000" y="1828800"/>
            <a:ext cx="2286000" cy="105156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Rejected. Must decrypt first, which reopens the padding-oracle attack.</a:t>
            </a:r>
            <a:endParaRPr lang="en-US" sz="1200" dirty="0"/>
          </a:p>
        </p:txBody>
      </p:sp>
      <p:sp>
        <p:nvSpPr>
          <p:cNvPr id="10" name="Shape 8"/>
          <p:cNvSpPr/>
          <p:nvPr/>
        </p:nvSpPr>
        <p:spPr>
          <a:xfrm>
            <a:off x="6035040" y="1325880"/>
            <a:ext cx="2606040" cy="1600200"/>
          </a:xfrm>
          <a:prstGeom prst="roundRect">
            <a:avLst>
              <a:gd name="adj" fmla="val 4571"/>
            </a:avLst>
          </a:prstGeom>
          <a:solidFill>
            <a:srgbClr val="F3F5F6"/>
          </a:solidFill>
          <a:ln w="12700">
            <a:solidFill>
              <a:srgbClr val="F3F5F6"/>
            </a:solidFill>
            <a:prstDash val="solid"/>
          </a:ln>
        </p:spPr>
      </p:sp>
      <p:sp>
        <p:nvSpPr>
          <p:cNvPr id="11" name="Text 9"/>
          <p:cNvSpPr txBox="1"/>
          <p:nvPr/>
        </p:nvSpPr>
        <p:spPr>
          <a:xfrm>
            <a:off x="6217920" y="1463040"/>
            <a:ext cx="2286000" cy="3200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Encrypt-and-MAC</a:t>
            </a:r>
            <a:endParaRPr lang="en-US" sz="1500" dirty="0"/>
          </a:p>
        </p:txBody>
      </p:sp>
      <p:sp>
        <p:nvSpPr>
          <p:cNvPr id="12" name="Text 10"/>
          <p:cNvSpPr txBox="1"/>
          <p:nvPr/>
        </p:nvSpPr>
        <p:spPr>
          <a:xfrm>
            <a:off x="6217920" y="1828800"/>
            <a:ext cx="2286000" cy="1051560"/>
          </a:xfrm>
          <a:prstGeom prst="rect">
            <a:avLst/>
          </a:prstGeom>
          <a:noFill/>
          <a:ln/>
        </p:spPr>
        <p:txBody>
          <a:bodyPr wrap="square" lIns="0" tIns="0" rIns="0" bIns="0" rtlCol="0" anchor="t"/>
          <a:lstStyle/>
          <a:p>
            <a:pPr indent="0" marL="0">
              <a:buNone/>
            </a:pPr>
            <a:r>
              <a:rPr lang="en-US" sz="1200" dirty="0">
                <a:solidFill>
                  <a:srgbClr val="5F6B73"/>
                </a:solidFill>
                <a:latin typeface="Calibri" pitchFamily="34" charset="0"/>
                <a:ea typeface="Calibri" pitchFamily="34" charset="-122"/>
                <a:cs typeface="Calibri" pitchFamily="34" charset="-120"/>
              </a:rPr>
              <a:t>Rejected. The MAC is on the plaintext and can leak information about it.</a:t>
            </a:r>
            <a:endParaRPr lang="en-US" sz="1200" dirty="0"/>
          </a:p>
        </p:txBody>
      </p:sp>
      <p:sp>
        <p:nvSpPr>
          <p:cNvPr id="13" name="Shape 11"/>
          <p:cNvSpPr/>
          <p:nvPr/>
        </p:nvSpPr>
        <p:spPr>
          <a:xfrm>
            <a:off x="457200" y="3246120"/>
            <a:ext cx="640080" cy="640080"/>
          </a:xfrm>
          <a:prstGeom prst="ellipse">
            <a:avLst/>
          </a:prstGeom>
          <a:solidFill>
            <a:srgbClr val="E0A526"/>
          </a:solidFill>
          <a:ln w="12700">
            <a:solidFill>
              <a:srgbClr val="E0A526"/>
            </a:solidFill>
            <a:prstDash val="solid"/>
          </a:ln>
        </p:spPr>
      </p:sp>
      <p:pic>
        <p:nvPicPr>
          <p:cNvPr id="14" name="Image 0" descr="preencoded.png">    </p:cNvPr>
          <p:cNvPicPr>
            <a:picLocks noChangeAspect="1"/>
          </p:cNvPicPr>
          <p:nvPr/>
        </p:nvPicPr>
        <p:blipFill>
          <a:blip r:embed="rId1"/>
          <a:stretch>
            <a:fillRect/>
          </a:stretch>
        </p:blipFill>
        <p:spPr>
          <a:xfrm>
            <a:off x="610819" y="3399739"/>
            <a:ext cx="332842" cy="332842"/>
          </a:xfrm>
          <a:prstGeom prst="rect">
            <a:avLst/>
          </a:prstGeom>
        </p:spPr>
      </p:pic>
      <p:sp>
        <p:nvSpPr>
          <p:cNvPr id="15" name="Text 12"/>
          <p:cNvSpPr txBox="1"/>
          <p:nvPr/>
        </p:nvSpPr>
        <p:spPr>
          <a:xfrm>
            <a:off x="1280160" y="3200400"/>
            <a:ext cx="731520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Why an IV never repeats - even after a crash</a:t>
            </a:r>
            <a:endParaRPr lang="en-US" sz="1500" dirty="0"/>
          </a:p>
        </p:txBody>
      </p:sp>
      <p:sp>
        <p:nvSpPr>
          <p:cNvPr id="16" name="Text 13"/>
          <p:cNvSpPr txBox="1"/>
          <p:nvPr/>
        </p:nvSpPr>
        <p:spPr>
          <a:xfrm>
            <a:off x="1280160" y="3566160"/>
            <a:ext cx="7406640" cy="109728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Every document gets brand-new random keys, so each key encrypts only one message. The 16-byte IV comes from the OS random generator (secrets), which keeps no state in our program, so a restart cannot reset it. Key wrapping uses a fresh 32-byte HKDF salt each time.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Decision 3 - Public keys: X25519 + Ed25519</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Curve25519: ~128-bit security, matches our symmetric side</a:t>
            </a:r>
            <a:endParaRPr lang="en-US" sz="1300" dirty="0"/>
          </a:p>
        </p:txBody>
      </p:sp>
      <p:sp>
        <p:nvSpPr>
          <p:cNvPr id="4" name="Shape 2"/>
          <p:cNvSpPr/>
          <p:nvPr/>
        </p:nvSpPr>
        <p:spPr>
          <a:xfrm>
            <a:off x="457200" y="1325880"/>
            <a:ext cx="3931920" cy="3337560"/>
          </a:xfrm>
          <a:prstGeom prst="roundRect">
            <a:avLst>
              <a:gd name="adj" fmla="val 2192"/>
            </a:avLst>
          </a:prstGeom>
          <a:solidFill>
            <a:srgbClr val="F3F5F6"/>
          </a:solidFill>
          <a:ln w="12700">
            <a:solidFill>
              <a:srgbClr val="F3F5F6"/>
            </a:solidFill>
            <a:prstDash val="solid"/>
          </a:ln>
        </p:spPr>
      </p:sp>
      <p:sp>
        <p:nvSpPr>
          <p:cNvPr id="5" name="Text 3"/>
          <p:cNvSpPr txBox="1"/>
          <p:nvPr/>
        </p:nvSpPr>
        <p:spPr>
          <a:xfrm>
            <a:off x="685800" y="1463040"/>
            <a:ext cx="356616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Why we need it</a:t>
            </a:r>
            <a:endParaRPr lang="en-US" sz="1500" dirty="0"/>
          </a:p>
        </p:txBody>
      </p:sp>
      <p:sp>
        <p:nvSpPr>
          <p:cNvPr id="6" name="Text 4"/>
          <p:cNvSpPr txBox="1"/>
          <p:nvPr/>
        </p:nvSpPr>
        <p:spPr>
          <a:xfrm>
            <a:off x="685800" y="1874520"/>
            <a:ext cx="35661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328"/>
                </a:solidFill>
                <a:latin typeface="Calibri" pitchFamily="34" charset="0"/>
                <a:ea typeface="Calibri" pitchFamily="34" charset="-122"/>
                <a:cs typeface="Calibri" pitchFamily="34" charset="-120"/>
              </a:rPr>
              <a:t>X25519 (our own code): give Omar the document keys without the server learning them.</a:t>
            </a:r>
            <a:endParaRPr lang="en-US" sz="1200" dirty="0"/>
          </a:p>
          <a:p>
            <a:pPr marL="342900" indent="-342900">
              <a:spcAft>
                <a:spcPts val="600"/>
              </a:spcAft>
              <a:buSzPct val="100000"/>
              <a:buChar char="•"/>
            </a:pPr>
            <a:r>
              <a:rPr lang="en-US" sz="1200" dirty="0">
                <a:solidFill>
                  <a:srgbClr val="1E2328"/>
                </a:solidFill>
                <a:latin typeface="Calibri" pitchFamily="34" charset="0"/>
                <a:ea typeface="Calibri" pitchFamily="34" charset="-122"/>
                <a:cs typeface="Calibri" pitchFamily="34" charset="-120"/>
              </a:rPr>
              <a:t>Ed25519 (library): a signature only Layla can make - non-repudiation.</a:t>
            </a:r>
            <a:endParaRPr lang="en-US" sz="1200" dirty="0"/>
          </a:p>
          <a:p>
            <a:pPr marL="342900" indent="-342900">
              <a:spcAft>
                <a:spcPts val="600"/>
              </a:spcAft>
              <a:buSzPct val="100000"/>
              <a:buChar char="•"/>
            </a:pPr>
            <a:r>
              <a:rPr lang="en-US" sz="1200" dirty="0">
                <a:solidFill>
                  <a:srgbClr val="1E2328"/>
                </a:solidFill>
                <a:latin typeface="Calibri" pitchFamily="34" charset="0"/>
                <a:ea typeface="Calibri" pitchFamily="34" charset="-122"/>
                <a:cs typeface="Calibri" pitchFamily="34" charset="-120"/>
              </a:rPr>
              <a:t>Montgomery ladder: no special cases, constant-time by design.</a:t>
            </a:r>
            <a:endParaRPr lang="en-US" sz="1200" dirty="0"/>
          </a:p>
          <a:p>
            <a:pPr marL="342900" indent="-342900">
              <a:spcAft>
                <a:spcPts val="600"/>
              </a:spcAft>
              <a:buSzPct val="100000"/>
              <a:buChar char="•"/>
            </a:pPr>
            <a:r>
              <a:rPr lang="en-US" sz="1200" dirty="0">
                <a:solidFill>
                  <a:srgbClr val="1E2328"/>
                </a:solidFill>
                <a:latin typeface="Calibri" pitchFamily="34" charset="0"/>
                <a:ea typeface="Calibri" pitchFamily="34" charset="-122"/>
                <a:cs typeface="Calibri" pitchFamily="34" charset="-120"/>
              </a:rPr>
              <a:t>Ed25519 nonce is deterministic - no ECDSA nonce-reuse disaster.</a:t>
            </a:r>
            <a:endParaRPr lang="en-US" sz="1200" dirty="0"/>
          </a:p>
          <a:p>
            <a:pPr marL="342900" indent="-342900">
              <a:spcAft>
                <a:spcPts val="600"/>
              </a:spcAft>
              <a:buSzPct val="100000"/>
              <a:buChar char="•"/>
            </a:pPr>
            <a:r>
              <a:rPr lang="en-US" sz="1200" dirty="0">
                <a:solidFill>
                  <a:srgbClr val="1E2328"/>
                </a:solidFill>
                <a:latin typeface="Calibri" pitchFamily="34" charset="0"/>
                <a:ea typeface="Calibri" pitchFamily="34" charset="-122"/>
                <a:cs typeface="Calibri" pitchFamily="34" charset="-120"/>
              </a:rPr>
              <a:t>Rejected: RSA / finite-field DH (3072-bit), P-256 + ECDSA.</a:t>
            </a:r>
            <a:endParaRPr lang="en-US" sz="1200" dirty="0"/>
          </a:p>
        </p:txBody>
      </p:sp>
      <p:graphicFrame>
        <p:nvGraphicFramePr>
          <p:cNvPr id="7" name="Chart 0" descr=""/>
          <p:cNvGraphicFramePr/>
          <p:nvPr/>
        </p:nvGraphicFramePr>
        <p:xfrm>
          <a:off x="4663440" y="1280160"/>
          <a:ext cx="4023360" cy="25146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3931920"/>
            <a:ext cx="4023360" cy="548640"/>
          </a:xfrm>
          <a:prstGeom prst="rect">
            <a:avLst/>
          </a:prstGeom>
          <a:noFill/>
          <a:ln/>
        </p:spPr>
        <p:txBody>
          <a:bodyPr wrap="square" lIns="0" tIns="0" rIns="0" bIns="0" rtlCol="0" anchor="t"/>
          <a:lstStyle/>
          <a:p>
            <a:pPr algn="ctr" indent="0" marL="0">
              <a:buNone/>
            </a:pPr>
            <a:r>
              <a:rPr lang="en-US" sz="1300" b="1" dirty="0">
                <a:solidFill>
                  <a:srgbClr val="2A9D8F"/>
                </a:solidFill>
                <a:latin typeface="Calibri" pitchFamily="34" charset="0"/>
                <a:ea typeface="Calibri" pitchFamily="34" charset="-122"/>
                <a:cs typeface="Calibri" pitchFamily="34" charset="-120"/>
              </a:rPr>
              <a:t>4× to 48× faster   •   public key 32 B vs 384 B (12× smaller)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Decision 4 - Trusting a public key: TOFU</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If the server swaps Omar's key, every other guarantee collapses</a:t>
            </a:r>
            <a:endParaRPr lang="en-US" sz="1300" dirty="0"/>
          </a:p>
        </p:txBody>
      </p:sp>
      <p:sp>
        <p:nvSpPr>
          <p:cNvPr id="4" name="Shape 2"/>
          <p:cNvSpPr/>
          <p:nvPr/>
        </p:nvSpPr>
        <p:spPr>
          <a:xfrm>
            <a:off x="457200" y="1371600"/>
            <a:ext cx="548640" cy="548640"/>
          </a:xfrm>
          <a:prstGeom prst="ellipse">
            <a:avLst/>
          </a:prstGeom>
          <a:solidFill>
            <a:srgbClr val="E0A526"/>
          </a:solidFill>
          <a:ln w="12700">
            <a:solidFill>
              <a:srgbClr val="E0A526"/>
            </a:solidFill>
            <a:prstDash val="solid"/>
          </a:ln>
        </p:spPr>
      </p:sp>
      <p:pic>
        <p:nvPicPr>
          <p:cNvPr id="5" name="Image 0" descr="preencoded.png">    </p:cNvPr>
          <p:cNvPicPr>
            <a:picLocks noChangeAspect="1"/>
          </p:cNvPicPr>
          <p:nvPr/>
        </p:nvPicPr>
        <p:blipFill>
          <a:blip r:embed="rId1"/>
          <a:stretch>
            <a:fillRect/>
          </a:stretch>
        </p:blipFill>
        <p:spPr>
          <a:xfrm>
            <a:off x="588874" y="1503274"/>
            <a:ext cx="285293" cy="285293"/>
          </a:xfrm>
          <a:prstGeom prst="rect">
            <a:avLst/>
          </a:prstGeom>
        </p:spPr>
      </p:pic>
      <p:sp>
        <p:nvSpPr>
          <p:cNvPr id="6" name="Text 3"/>
          <p:cNvSpPr txBox="1"/>
          <p:nvPr/>
        </p:nvSpPr>
        <p:spPr>
          <a:xfrm>
            <a:off x="45720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First contact</a:t>
            </a:r>
            <a:endParaRPr lang="en-US" sz="1500" dirty="0"/>
          </a:p>
        </p:txBody>
      </p:sp>
      <p:sp>
        <p:nvSpPr>
          <p:cNvPr id="7" name="Text 4"/>
          <p:cNvSpPr txBox="1"/>
          <p:nvPr/>
        </p:nvSpPr>
        <p:spPr>
          <a:xfrm>
            <a:off x="45720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Client stores the user's X25519 + Ed25519 keys and a SHA-256 fingerprint in a local trust store.</a:t>
            </a:r>
            <a:endParaRPr lang="en-US" sz="1250" dirty="0"/>
          </a:p>
        </p:txBody>
      </p:sp>
      <p:sp>
        <p:nvSpPr>
          <p:cNvPr id="8" name="Shape 5"/>
          <p:cNvSpPr/>
          <p:nvPr/>
        </p:nvSpPr>
        <p:spPr>
          <a:xfrm>
            <a:off x="3246120" y="1371600"/>
            <a:ext cx="548640" cy="548640"/>
          </a:xfrm>
          <a:prstGeom prst="ellipse">
            <a:avLst/>
          </a:prstGeom>
          <a:solidFill>
            <a:srgbClr val="2A9D8F"/>
          </a:solidFill>
          <a:ln w="12700">
            <a:solidFill>
              <a:srgbClr val="2A9D8F"/>
            </a:solidFill>
            <a:prstDash val="solid"/>
          </a:ln>
        </p:spPr>
      </p:sp>
      <p:pic>
        <p:nvPicPr>
          <p:cNvPr id="9" name="Image 1" descr="preencoded.png">    </p:cNvPr>
          <p:cNvPicPr>
            <a:picLocks noChangeAspect="1"/>
          </p:cNvPicPr>
          <p:nvPr/>
        </p:nvPicPr>
        <p:blipFill>
          <a:blip r:embed="rId2"/>
          <a:stretch>
            <a:fillRect/>
          </a:stretch>
        </p:blipFill>
        <p:spPr>
          <a:xfrm>
            <a:off x="3377794" y="1503274"/>
            <a:ext cx="285293" cy="285293"/>
          </a:xfrm>
          <a:prstGeom prst="rect">
            <a:avLst/>
          </a:prstGeom>
        </p:spPr>
      </p:pic>
      <p:sp>
        <p:nvSpPr>
          <p:cNvPr id="10" name="Text 6"/>
          <p:cNvSpPr txBox="1"/>
          <p:nvPr/>
        </p:nvSpPr>
        <p:spPr>
          <a:xfrm>
            <a:off x="324612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Every later contact</a:t>
            </a:r>
            <a:endParaRPr lang="en-US" sz="1500" dirty="0"/>
          </a:p>
        </p:txBody>
      </p:sp>
      <p:sp>
        <p:nvSpPr>
          <p:cNvPr id="11" name="Text 7"/>
          <p:cNvSpPr txBox="1"/>
          <p:nvPr/>
        </p:nvSpPr>
        <p:spPr>
          <a:xfrm>
            <a:off x="324612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Keys are compared with the stored ones. Any change raises KeyChangeDetected and the action stops.</a:t>
            </a:r>
            <a:endParaRPr lang="en-US" sz="1250" dirty="0"/>
          </a:p>
        </p:txBody>
      </p:sp>
      <p:sp>
        <p:nvSpPr>
          <p:cNvPr id="12" name="Shape 8"/>
          <p:cNvSpPr/>
          <p:nvPr/>
        </p:nvSpPr>
        <p:spPr>
          <a:xfrm>
            <a:off x="6035040" y="1371600"/>
            <a:ext cx="548640" cy="548640"/>
          </a:xfrm>
          <a:prstGeom prst="ellipse">
            <a:avLst/>
          </a:prstGeom>
          <a:solidFill>
            <a:srgbClr val="E0A526"/>
          </a:solidFill>
          <a:ln w="12700">
            <a:solidFill>
              <a:srgbClr val="E0A526"/>
            </a:solidFill>
            <a:prstDash val="solid"/>
          </a:ln>
        </p:spPr>
      </p:sp>
      <p:pic>
        <p:nvPicPr>
          <p:cNvPr id="13" name="Image 2" descr="preencoded.png">    </p:cNvPr>
          <p:cNvPicPr>
            <a:picLocks noChangeAspect="1"/>
          </p:cNvPicPr>
          <p:nvPr/>
        </p:nvPicPr>
        <p:blipFill>
          <a:blip r:embed="rId3"/>
          <a:stretch>
            <a:fillRect/>
          </a:stretch>
        </p:blipFill>
        <p:spPr>
          <a:xfrm>
            <a:off x="6166714" y="1503274"/>
            <a:ext cx="285293" cy="285293"/>
          </a:xfrm>
          <a:prstGeom prst="rect">
            <a:avLst/>
          </a:prstGeom>
        </p:spPr>
      </p:pic>
      <p:sp>
        <p:nvSpPr>
          <p:cNvPr id="14" name="Text 9"/>
          <p:cNvSpPr txBox="1"/>
          <p:nvPr/>
        </p:nvSpPr>
        <p:spPr>
          <a:xfrm>
            <a:off x="603504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Optional check</a:t>
            </a:r>
            <a:endParaRPr lang="en-US" sz="1500" dirty="0"/>
          </a:p>
        </p:txBody>
      </p:sp>
      <p:sp>
        <p:nvSpPr>
          <p:cNvPr id="15" name="Text 10"/>
          <p:cNvSpPr txBox="1"/>
          <p:nvPr/>
        </p:nvSpPr>
        <p:spPr>
          <a:xfrm>
            <a:off x="603504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Users read a short 24-digit verification code to each other by phone or in person.</a:t>
            </a:r>
            <a:endParaRPr lang="en-US" sz="1250" dirty="0"/>
          </a:p>
        </p:txBody>
      </p:sp>
      <p:sp>
        <p:nvSpPr>
          <p:cNvPr id="16" name="Shape 11"/>
          <p:cNvSpPr/>
          <p:nvPr/>
        </p:nvSpPr>
        <p:spPr>
          <a:xfrm>
            <a:off x="457200" y="3611880"/>
            <a:ext cx="8229600" cy="1051560"/>
          </a:xfrm>
          <a:prstGeom prst="roundRect">
            <a:avLst>
              <a:gd name="adj" fmla="val 6957"/>
            </a:avLst>
          </a:prstGeom>
          <a:solidFill>
            <a:srgbClr val="F3F5F6"/>
          </a:solidFill>
          <a:ln w="12700">
            <a:solidFill>
              <a:srgbClr val="F3F5F6"/>
            </a:solidFill>
            <a:prstDash val="solid"/>
          </a:ln>
        </p:spPr>
      </p:sp>
      <p:sp>
        <p:nvSpPr>
          <p:cNvPr id="17" name="Text 12"/>
          <p:cNvSpPr txBox="1"/>
          <p:nvPr/>
        </p:nvSpPr>
        <p:spPr>
          <a:xfrm>
            <a:off x="685800" y="3749040"/>
            <a:ext cx="7772400" cy="82296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Assumption: the very first contact is not under attack.  Rejected: mandatory fingerprint check for every contact (users have never met), and our own CA (brings back a trusted third party + revocation).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Decision 5 - Transport: TLS 1.2+</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Plain TCP exposed the session token and metadata - now every frame travels inside TLS</a:t>
            </a:r>
            <a:endParaRPr lang="en-US" sz="1300" dirty="0"/>
          </a:p>
        </p:txBody>
      </p:sp>
      <p:sp>
        <p:nvSpPr>
          <p:cNvPr id="4" name="Shape 2"/>
          <p:cNvSpPr/>
          <p:nvPr/>
        </p:nvSpPr>
        <p:spPr>
          <a:xfrm>
            <a:off x="457200" y="1371600"/>
            <a:ext cx="548640" cy="548640"/>
          </a:xfrm>
          <a:prstGeom prst="ellipse">
            <a:avLst/>
          </a:prstGeom>
          <a:solidFill>
            <a:srgbClr val="E0A526"/>
          </a:solidFill>
          <a:ln w="12700">
            <a:solidFill>
              <a:srgbClr val="E0A526"/>
            </a:solidFill>
            <a:prstDash val="solid"/>
          </a:ln>
        </p:spPr>
      </p:sp>
      <p:sp>
        <p:nvSpPr>
          <p:cNvPr id="6" name="Text 3"/>
          <p:cNvSpPr txBox="1"/>
          <p:nvPr/>
        </p:nvSpPr>
        <p:spPr>
          <a:xfrm>
            <a:off x="45720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Certificate</a:t>
            </a:r>
            <a:endParaRPr lang="en-US" sz="1500" dirty="0"/>
          </a:p>
        </p:txBody>
      </p:sp>
      <p:sp>
        <p:nvSpPr>
          <p:cNvPr id="7" name="Text 4"/>
          <p:cNvSpPr txBox="1"/>
          <p:nvPr/>
        </p:nvSpPr>
        <p:spPr>
          <a:xfrm>
            <a:off x="45720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generate_tls_cert.py makes a self-signed RSA-3072 certificate, SHA-256, SAN localhost + 127.0.0.1, valid 365 days.</a:t>
            </a:r>
            <a:endParaRPr lang="en-US" sz="1250" dirty="0"/>
          </a:p>
        </p:txBody>
      </p:sp>
      <p:sp>
        <p:nvSpPr>
          <p:cNvPr id="8" name="Shape 5"/>
          <p:cNvSpPr/>
          <p:nvPr/>
        </p:nvSpPr>
        <p:spPr>
          <a:xfrm>
            <a:off x="3246120" y="1371600"/>
            <a:ext cx="548640" cy="548640"/>
          </a:xfrm>
          <a:prstGeom prst="ellipse">
            <a:avLst/>
          </a:prstGeom>
          <a:solidFill>
            <a:srgbClr val="2A9D8F"/>
          </a:solidFill>
          <a:ln w="12700">
            <a:solidFill>
              <a:srgbClr val="2A9D8F"/>
            </a:solidFill>
            <a:prstDash val="solid"/>
          </a:ln>
        </p:spPr>
      </p:sp>
      <p:sp>
        <p:nvSpPr>
          <p:cNvPr id="10" name="Text 6"/>
          <p:cNvSpPr txBox="1"/>
          <p:nvPr/>
        </p:nvSpPr>
        <p:spPr>
          <a:xfrm>
            <a:off x="324612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Server</a:t>
            </a:r>
            <a:endParaRPr lang="en-US" sz="1500" dirty="0"/>
          </a:p>
        </p:txBody>
      </p:sp>
      <p:sp>
        <p:nvSpPr>
          <p:cNvPr id="11" name="Text 7"/>
          <p:cNvSpPr txBox="1"/>
          <p:nvPr/>
        </p:nvSpPr>
        <p:spPr>
          <a:xfrm>
            <a:off x="324612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SSLContext(TLS_SERVER), minimum TLS 1.2, loads server.crt + server.key. A failed handshake closes the connection.</a:t>
            </a:r>
            <a:endParaRPr lang="en-US" sz="1250" dirty="0"/>
          </a:p>
        </p:txBody>
      </p:sp>
      <p:sp>
        <p:nvSpPr>
          <p:cNvPr id="12" name="Shape 8"/>
          <p:cNvSpPr/>
          <p:nvPr/>
        </p:nvSpPr>
        <p:spPr>
          <a:xfrm>
            <a:off x="6035040" y="1371600"/>
            <a:ext cx="548640" cy="548640"/>
          </a:xfrm>
          <a:prstGeom prst="ellipse">
            <a:avLst/>
          </a:prstGeom>
          <a:solidFill>
            <a:srgbClr val="E0A526"/>
          </a:solidFill>
          <a:ln w="12700">
            <a:solidFill>
              <a:srgbClr val="E0A526"/>
            </a:solidFill>
            <a:prstDash val="solid"/>
          </a:ln>
        </p:spPr>
      </p:sp>
      <p:sp>
        <p:nvSpPr>
          <p:cNvPr id="14" name="Text 9"/>
          <p:cNvSpPr txBox="1"/>
          <p:nvPr/>
        </p:nvSpPr>
        <p:spPr>
          <a:xfrm>
            <a:off x="6035040" y="2057400"/>
            <a:ext cx="2606040" cy="320040"/>
          </a:xfrm>
          <a:prstGeom prst="rect">
            <a:avLst/>
          </a:prstGeom>
          <a:noFill/>
          <a:ln/>
        </p:spPr>
        <p:txBody>
          <a:bodyPr wrap="square" lIns="0" tIns="0" rIns="0" bIns="0" rtlCol="0" anchor="t"/>
          <a:lstStyle/>
          <a:p>
            <a:pPr indent="0" marL="0">
              <a:buNone/>
            </a:pPr>
            <a:r>
              <a:rPr lang="en-US" sz="1500" b="1" dirty="0">
                <a:solidFill>
                  <a:srgbClr val="1E2328"/>
                </a:solidFill>
                <a:latin typeface="Calibri" pitchFamily="34" charset="0"/>
                <a:ea typeface="Calibri" pitchFamily="34" charset="-122"/>
                <a:cs typeface="Calibri" pitchFamily="34" charset="-120"/>
              </a:rPr>
              <a:t>Client</a:t>
            </a:r>
            <a:endParaRPr lang="en-US" sz="1500" dirty="0"/>
          </a:p>
        </p:txBody>
      </p:sp>
      <p:sp>
        <p:nvSpPr>
          <p:cNvPr id="15" name="Text 10"/>
          <p:cNvSpPr txBox="1"/>
          <p:nvPr/>
        </p:nvSpPr>
        <p:spPr>
          <a:xfrm>
            <a:off x="6035040" y="2423160"/>
            <a:ext cx="2560320" cy="1005840"/>
          </a:xfrm>
          <a:prstGeom prst="rect">
            <a:avLst/>
          </a:prstGeom>
          <a:noFill/>
          <a:ln/>
        </p:spPr>
        <p:txBody>
          <a:bodyPr wrap="square" lIns="0" tIns="0" rIns="0" bIns="0" rtlCol="0" anchor="t"/>
          <a:lstStyle/>
          <a:p>
            <a:pPr indent="0" marL="0">
              <a:buNone/>
            </a:pPr>
            <a:r>
              <a:rPr lang="en-US" sz="1250" dirty="0">
                <a:solidFill>
                  <a:srgbClr val="5F6B73"/>
                </a:solidFill>
                <a:latin typeface="Calibri" pitchFamily="34" charset="0"/>
                <a:ea typeface="Calibri" pitchFamily="34" charset="-122"/>
                <a:cs typeface="Calibri" pitchFamily="34" charset="-120"/>
              </a:rPr>
              <a:t>create_default_context(cafile=server.crt): checks the certificate and host name. Any other certificate is refused.</a:t>
            </a:r>
            <a:endParaRPr lang="en-US" sz="1250" dirty="0"/>
          </a:p>
        </p:txBody>
      </p:sp>
      <p:pic>
        <p:nvPicPr>
          <p:cNvPr id="18" name="Picture 17" descr="icon_cert.png"/>
          <p:cNvPicPr>
            <a:picLocks noChangeAspect="1"/>
          </p:cNvPicPr>
          <p:nvPr/>
        </p:nvPicPr>
        <p:blipFill>
          <a:blip r:embed="rId5"/>
          <a:stretch>
            <a:fillRect/>
          </a:stretch>
        </p:blipFill>
        <p:spPr>
          <a:xfrm>
            <a:off x="588874" y="1503274"/>
            <a:ext cx="285293" cy="285293"/>
          </a:xfrm>
          <a:prstGeom prst="rect">
            <a:avLst/>
          </a:prstGeom>
        </p:spPr>
      </p:pic>
      <p:pic>
        <p:nvPicPr>
          <p:cNvPr id="19" name="Picture 18" descr="image.png"/>
          <p:cNvPicPr>
            <a:picLocks noChangeAspect="1"/>
          </p:cNvPicPr>
          <p:nvPr/>
        </p:nvPicPr>
        <p:blipFill>
          <a:blip r:embed="rId6"/>
          <a:stretch>
            <a:fillRect/>
          </a:stretch>
        </p:blipFill>
        <p:spPr>
          <a:xfrm>
            <a:off x="3377794" y="1503274"/>
            <a:ext cx="285293" cy="285293"/>
          </a:xfrm>
          <a:prstGeom prst="rect">
            <a:avLst/>
          </a:prstGeom>
        </p:spPr>
      </p:pic>
      <p:pic>
        <p:nvPicPr>
          <p:cNvPr id="20" name="Picture 19" descr="icon_laptop.png"/>
          <p:cNvPicPr>
            <a:picLocks noChangeAspect="1"/>
          </p:cNvPicPr>
          <p:nvPr/>
        </p:nvPicPr>
        <p:blipFill>
          <a:blip r:embed="rId7"/>
          <a:stretch>
            <a:fillRect/>
          </a:stretch>
        </p:blipFill>
        <p:spPr>
          <a:xfrm>
            <a:off x="6166714" y="1503274"/>
            <a:ext cx="285293" cy="285293"/>
          </a:xfrm>
          <a:prstGeom prst="rect">
            <a:avLst/>
          </a:prstGeom>
        </p:spPr>
      </p:pic>
      <p:sp>
        <p:nvSpPr>
          <p:cNvPr id="21" name="TextBox 20"/>
          <p:cNvSpPr txBox="1"/>
          <p:nvPr/>
        </p:nvSpPr>
        <p:spPr>
          <a:xfrm>
            <a:off x="457200" y="3520440"/>
            <a:ext cx="8229600" cy="228600"/>
          </a:xfrm>
          <a:prstGeom prst="rect">
            <a:avLst/>
          </a:prstGeom>
          <a:noFill/>
        </p:spPr>
        <p:txBody>
          <a:bodyPr wrap="square" lIns="0" rIns="0" tIns="0" bIns="0">
            <a:spAutoFit/>
          </a:bodyPr>
          <a:lstStyle/>
          <a:p>
            <a:r>
              <a:rPr sz="1150" b="1">
                <a:solidFill>
                  <a:srgbClr val="2A9D8F"/>
                </a:solidFill>
                <a:latin typeface="Calibri"/>
              </a:rPr>
              <a:t>Live run: certificate created, server listening with TLS on 127.0.0.1:5000</a:t>
            </a:r>
          </a:p>
        </p:txBody>
      </p:sp>
      <p:pic>
        <p:nvPicPr>
          <p:cNvPr id="22" name="Picture 21" descr="01_tls_server.png"/>
          <p:cNvPicPr>
            <a:picLocks noChangeAspect="1"/>
          </p:cNvPicPr>
          <p:nvPr/>
        </p:nvPicPr>
        <p:blipFill>
          <a:blip r:embed="rId9"/>
          <a:stretch>
            <a:fillRect/>
          </a:stretch>
        </p:blipFill>
        <p:spPr>
          <a:xfrm>
            <a:off x="457200" y="3776472"/>
            <a:ext cx="6922769" cy="1051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Security argument: property → mechanism</a:t>
            </a:r>
            <a:endParaRPr lang="en-US" sz="2800" dirty="0"/>
          </a:p>
        </p:txBody>
      </p:sp>
      <p:sp>
        <p:nvSpPr>
          <p:cNvPr id="3" name="Shape 1"/>
          <p:cNvSpPr/>
          <p:nvPr/>
        </p:nvSpPr>
        <p:spPr>
          <a:xfrm>
            <a:off x="457200" y="932688"/>
            <a:ext cx="2286000" cy="402336"/>
          </a:xfrm>
          <a:prstGeom prst="roundRect">
            <a:avLst>
              <a:gd name="adj" fmla="val 10417"/>
            </a:avLst>
          </a:prstGeom>
          <a:solidFill>
            <a:srgbClr val="1E2328"/>
          </a:solidFill>
          <a:ln w="12700">
            <a:solidFill>
              <a:srgbClr val="1E2328"/>
            </a:solidFill>
            <a:prstDash val="solid"/>
          </a:ln>
        </p:spPr>
      </p:sp>
      <p:sp>
        <p:nvSpPr>
          <p:cNvPr id="4" name="Text 2"/>
          <p:cNvSpPr txBox="1"/>
          <p:nvPr/>
        </p:nvSpPr>
        <p:spPr>
          <a:xfrm>
            <a:off x="548640" y="1005840"/>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Confidentiality</a:t>
            </a:r>
            <a:endParaRPr lang="en-US" sz="1300" dirty="0"/>
          </a:p>
        </p:txBody>
      </p:sp>
      <p:sp>
        <p:nvSpPr>
          <p:cNvPr id="5" name="Text 3"/>
          <p:cNvSpPr txBox="1"/>
          <p:nvPr/>
        </p:nvSpPr>
        <p:spPr>
          <a:xfrm>
            <a:off x="2926080" y="1005840"/>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AES-256-CBC, random per-document keys, keys only inside wrapped package</a:t>
            </a:r>
            <a:endParaRPr lang="en-US" sz="1250" dirty="0"/>
          </a:p>
        </p:txBody>
      </p:sp>
      <p:sp>
        <p:nvSpPr>
          <p:cNvPr id="6" name="Shape 4"/>
          <p:cNvSpPr/>
          <p:nvPr/>
        </p:nvSpPr>
        <p:spPr>
          <a:xfrm>
            <a:off x="457200" y="1426464"/>
            <a:ext cx="2286000" cy="402336"/>
          </a:xfrm>
          <a:prstGeom prst="roundRect">
            <a:avLst>
              <a:gd name="adj" fmla="val 10417"/>
            </a:avLst>
          </a:prstGeom>
          <a:solidFill>
            <a:srgbClr val="2A9D8F"/>
          </a:solidFill>
          <a:ln w="12700">
            <a:solidFill>
              <a:srgbClr val="2A9D8F"/>
            </a:solidFill>
            <a:prstDash val="solid"/>
          </a:ln>
        </p:spPr>
      </p:sp>
      <p:sp>
        <p:nvSpPr>
          <p:cNvPr id="7" name="Text 5"/>
          <p:cNvSpPr txBox="1"/>
          <p:nvPr/>
        </p:nvSpPr>
        <p:spPr>
          <a:xfrm>
            <a:off x="548640" y="1499616"/>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Integrity</a:t>
            </a:r>
            <a:endParaRPr lang="en-US" sz="1300" dirty="0"/>
          </a:p>
        </p:txBody>
      </p:sp>
      <p:sp>
        <p:nvSpPr>
          <p:cNvPr id="8" name="Text 6"/>
          <p:cNvSpPr txBox="1"/>
          <p:nvPr/>
        </p:nvSpPr>
        <p:spPr>
          <a:xfrm>
            <a:off x="2926080" y="1499616"/>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HMAC over metadata | IV | ciphertext, checked before decryption</a:t>
            </a:r>
            <a:endParaRPr lang="en-US" sz="1250" dirty="0"/>
          </a:p>
        </p:txBody>
      </p:sp>
      <p:sp>
        <p:nvSpPr>
          <p:cNvPr id="9" name="Shape 7"/>
          <p:cNvSpPr/>
          <p:nvPr/>
        </p:nvSpPr>
        <p:spPr>
          <a:xfrm>
            <a:off x="457200" y="1920240"/>
            <a:ext cx="2286000" cy="402336"/>
          </a:xfrm>
          <a:prstGeom prst="roundRect">
            <a:avLst>
              <a:gd name="adj" fmla="val 10417"/>
            </a:avLst>
          </a:prstGeom>
          <a:solidFill>
            <a:srgbClr val="1E2328"/>
          </a:solidFill>
          <a:ln w="12700">
            <a:solidFill>
              <a:srgbClr val="1E2328"/>
            </a:solidFill>
            <a:prstDash val="solid"/>
          </a:ln>
        </p:spPr>
      </p:sp>
      <p:sp>
        <p:nvSpPr>
          <p:cNvPr id="10" name="Text 8"/>
          <p:cNvSpPr txBox="1"/>
          <p:nvPr/>
        </p:nvSpPr>
        <p:spPr>
          <a:xfrm>
            <a:off x="548640" y="1993392"/>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Data-origin auth.</a:t>
            </a:r>
            <a:endParaRPr lang="en-US" sz="1300" dirty="0"/>
          </a:p>
        </p:txBody>
      </p:sp>
      <p:sp>
        <p:nvSpPr>
          <p:cNvPr id="11" name="Text 9"/>
          <p:cNvSpPr txBox="1"/>
          <p:nvPr/>
        </p:nvSpPr>
        <p:spPr>
          <a:xfrm>
            <a:off x="2926080" y="1993392"/>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Ed25519 signature with TOFU-pinned key; X25519 wrap uses sender's key</a:t>
            </a:r>
            <a:endParaRPr lang="en-US" sz="1250" dirty="0"/>
          </a:p>
        </p:txBody>
      </p:sp>
      <p:sp>
        <p:nvSpPr>
          <p:cNvPr id="12" name="Shape 10"/>
          <p:cNvSpPr/>
          <p:nvPr/>
        </p:nvSpPr>
        <p:spPr>
          <a:xfrm>
            <a:off x="457200" y="2414016"/>
            <a:ext cx="2286000" cy="402336"/>
          </a:xfrm>
          <a:prstGeom prst="roundRect">
            <a:avLst>
              <a:gd name="adj" fmla="val 10417"/>
            </a:avLst>
          </a:prstGeom>
          <a:solidFill>
            <a:srgbClr val="2A9D8F"/>
          </a:solidFill>
          <a:ln w="12700">
            <a:solidFill>
              <a:srgbClr val="2A9D8F"/>
            </a:solidFill>
            <a:prstDash val="solid"/>
          </a:ln>
        </p:spPr>
      </p:sp>
      <p:sp>
        <p:nvSpPr>
          <p:cNvPr id="13" name="Text 11"/>
          <p:cNvSpPr txBox="1"/>
          <p:nvPr/>
        </p:nvSpPr>
        <p:spPr>
          <a:xfrm>
            <a:off x="548640" y="2487168"/>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Non-repudiation</a:t>
            </a:r>
            <a:endParaRPr lang="en-US" sz="1300" dirty="0"/>
          </a:p>
        </p:txBody>
      </p:sp>
      <p:sp>
        <p:nvSpPr>
          <p:cNvPr id="14" name="Text 12"/>
          <p:cNvSpPr txBox="1"/>
          <p:nvPr/>
        </p:nvSpPr>
        <p:spPr>
          <a:xfrm>
            <a:off x="2926080" y="2487168"/>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Ed25519 signature only</a:t>
            </a:r>
            <a:endParaRPr lang="en-US" sz="1250" dirty="0"/>
          </a:p>
        </p:txBody>
      </p:sp>
      <p:sp>
        <p:nvSpPr>
          <p:cNvPr id="15" name="Shape 13"/>
          <p:cNvSpPr/>
          <p:nvPr/>
        </p:nvSpPr>
        <p:spPr>
          <a:xfrm>
            <a:off x="457200" y="2907792"/>
            <a:ext cx="2286000" cy="402336"/>
          </a:xfrm>
          <a:prstGeom prst="roundRect">
            <a:avLst>
              <a:gd name="adj" fmla="val 10417"/>
            </a:avLst>
          </a:prstGeom>
          <a:solidFill>
            <a:srgbClr val="1E2328"/>
          </a:solidFill>
          <a:ln w="12700">
            <a:solidFill>
              <a:srgbClr val="1E2328"/>
            </a:solidFill>
            <a:prstDash val="solid"/>
          </a:ln>
        </p:spPr>
      </p:sp>
      <p:sp>
        <p:nvSpPr>
          <p:cNvPr id="16" name="Text 14"/>
          <p:cNvSpPr txBox="1"/>
          <p:nvPr/>
        </p:nvSpPr>
        <p:spPr>
          <a:xfrm>
            <a:off x="548640" y="2980944"/>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Credential protection</a:t>
            </a:r>
            <a:endParaRPr lang="en-US" sz="1300" dirty="0"/>
          </a:p>
        </p:txBody>
      </p:sp>
      <p:sp>
        <p:nvSpPr>
          <p:cNvPr id="17" name="Text 15"/>
          <p:cNvSpPr txBox="1"/>
          <p:nvPr/>
        </p:nvSpPr>
        <p:spPr>
          <a:xfrm>
            <a:off x="2926080" y="2980944"/>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Argon2id 32 MiB + salt; challenge-response, no hash sent</a:t>
            </a:r>
            <a:endParaRPr lang="en-US" sz="1250" dirty="0"/>
          </a:p>
        </p:txBody>
      </p:sp>
      <p:sp>
        <p:nvSpPr>
          <p:cNvPr id="18" name="Shape 16"/>
          <p:cNvSpPr/>
          <p:nvPr/>
        </p:nvSpPr>
        <p:spPr>
          <a:xfrm>
            <a:off x="457200" y="3401568"/>
            <a:ext cx="2286000" cy="402336"/>
          </a:xfrm>
          <a:prstGeom prst="roundRect">
            <a:avLst>
              <a:gd name="adj" fmla="val 10417"/>
            </a:avLst>
          </a:prstGeom>
          <a:solidFill>
            <a:srgbClr val="2A9D8F"/>
          </a:solidFill>
          <a:ln w="12700">
            <a:solidFill>
              <a:srgbClr val="2A9D8F"/>
            </a:solidFill>
            <a:prstDash val="solid"/>
          </a:ln>
        </p:spPr>
      </p:sp>
      <p:sp>
        <p:nvSpPr>
          <p:cNvPr id="19" name="Text 17"/>
          <p:cNvSpPr txBox="1"/>
          <p:nvPr/>
        </p:nvSpPr>
        <p:spPr>
          <a:xfrm>
            <a:off x="548640" y="3474720"/>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Freshness</a:t>
            </a:r>
            <a:endParaRPr lang="en-US" sz="1300" dirty="0"/>
          </a:p>
        </p:txBody>
      </p:sp>
      <p:sp>
        <p:nvSpPr>
          <p:cNvPr id="20" name="Text 18"/>
          <p:cNvSpPr txBox="1"/>
          <p:nvPr/>
        </p:nvSpPr>
        <p:spPr>
          <a:xfrm>
            <a:off x="2926080" y="3474720"/>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Single-use login challenge, request_id replay cache, unique document_id</a:t>
            </a:r>
            <a:endParaRPr lang="en-US" sz="1250" dirty="0"/>
          </a:p>
        </p:txBody>
      </p:sp>
      <p:sp>
        <p:nvSpPr>
          <p:cNvPr id="21" name="Shape 19"/>
          <p:cNvSpPr/>
          <p:nvPr/>
        </p:nvSpPr>
        <p:spPr>
          <a:xfrm>
            <a:off x="457200" y="3895344"/>
            <a:ext cx="2286000" cy="402336"/>
          </a:xfrm>
          <a:prstGeom prst="roundRect">
            <a:avLst>
              <a:gd name="adj" fmla="val 10417"/>
            </a:avLst>
          </a:prstGeom>
          <a:solidFill>
            <a:srgbClr val="1E2328"/>
          </a:solidFill>
          <a:ln w="12700">
            <a:solidFill>
              <a:srgbClr val="1E2328"/>
            </a:solidFill>
            <a:prstDash val="solid"/>
          </a:ln>
        </p:spPr>
      </p:sp>
      <p:sp>
        <p:nvSpPr>
          <p:cNvPr id="22" name="Text 20"/>
          <p:cNvSpPr txBox="1"/>
          <p:nvPr/>
        </p:nvSpPr>
        <p:spPr>
          <a:xfrm>
            <a:off x="548640" y="3968496"/>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Metadata binding</a:t>
            </a:r>
            <a:endParaRPr lang="en-US" sz="1300" dirty="0"/>
          </a:p>
        </p:txBody>
      </p:sp>
      <p:sp>
        <p:nvSpPr>
          <p:cNvPr id="23" name="Text 21"/>
          <p:cNvSpPr txBox="1"/>
          <p:nvPr/>
        </p:nvSpPr>
        <p:spPr>
          <a:xfrm>
            <a:off x="2926080" y="3968496"/>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Metadata inside HMAC + signature; id/owner/recipient checked by client</a:t>
            </a:r>
            <a:endParaRPr lang="en-US" sz="1250" dirty="0"/>
          </a:p>
        </p:txBody>
      </p:sp>
      <p:sp>
        <p:nvSpPr>
          <p:cNvPr id="24" name="Shape 16"/>
          <p:cNvSpPr/>
          <p:nvPr/>
        </p:nvSpPr>
        <p:spPr>
          <a:xfrm>
            <a:off x="457200" y="4389120"/>
            <a:ext cx="2286000" cy="402336"/>
          </a:xfrm>
          <a:prstGeom prst="roundRect">
            <a:avLst>
              <a:gd name="adj" fmla="val 10417"/>
            </a:avLst>
          </a:prstGeom>
          <a:solidFill>
            <a:srgbClr val="2A9D8F"/>
          </a:solidFill>
          <a:ln w="12700">
            <a:solidFill>
              <a:srgbClr val="2A9D8F"/>
            </a:solidFill>
            <a:prstDash val="solid"/>
          </a:ln>
        </p:spPr>
      </p:sp>
      <p:sp>
        <p:nvSpPr>
          <p:cNvPr id="25" name="Text 17"/>
          <p:cNvSpPr txBox="1"/>
          <p:nvPr/>
        </p:nvSpPr>
        <p:spPr>
          <a:xfrm>
            <a:off x="548640" y="4462272"/>
            <a:ext cx="2103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Transport</a:t>
            </a:r>
            <a:endParaRPr lang="en-US" sz="1300" dirty="0"/>
          </a:p>
        </p:txBody>
      </p:sp>
      <p:sp>
        <p:nvSpPr>
          <p:cNvPr id="26" name="Text 18"/>
          <p:cNvSpPr txBox="1"/>
          <p:nvPr/>
        </p:nvSpPr>
        <p:spPr>
          <a:xfrm>
            <a:off x="2926080" y="4462272"/>
            <a:ext cx="5760720" cy="274320"/>
          </a:xfrm>
          <a:prstGeom prst="rect">
            <a:avLst/>
          </a:prstGeom>
          <a:noFill/>
          <a:ln/>
        </p:spPr>
        <p:txBody>
          <a:bodyPr wrap="square" lIns="0" tIns="0" rIns="0" bIns="0" rtlCol="0" anchor="t"/>
          <a:lstStyle/>
          <a:p>
            <a:pPr indent="0" marL="0">
              <a:buNone/>
            </a:pPr>
            <a:r>
              <a:rPr lang="en-US" sz="1250" dirty="0">
                <a:solidFill>
                  <a:srgbClr val="1E2328"/>
                </a:solidFill>
                <a:latin typeface="Calibri" pitchFamily="34" charset="0"/>
                <a:ea typeface="Calibri" pitchFamily="34" charset="-122"/>
                <a:cs typeface="Calibri" pitchFamily="34" charset="-120"/>
              </a:rPr>
              <a:t>TLS 1.2+, certificate checked against server.crt; token + metadata hidden on the wire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Results 1 - Upload, share and verified retrieval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Live run over TLS - Alice and Bob play Layla and Omar; the server receives encrypted fields only</a:t>
            </a:r>
            <a:endParaRPr lang="en-US" sz="1300" dirty="0"/>
          </a:p>
        </p:txBody>
      </p:sp>
      <p:sp>
        <p:nvSpPr>
          <p:cNvPr id="4" name="Rectangle 3"/>
          <p:cNvSpPr/>
          <p:nvPr/>
        </p:nvSpPr>
        <p:spPr>
          <a:xfrm>
            <a:off x="457200" y="1188720"/>
            <a:ext cx="4069080" cy="1610364"/>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617720" y="1188720"/>
            <a:ext cx="4069080" cy="1610364"/>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52728"/>
            <a:ext cx="3794760" cy="228600"/>
          </a:xfrm>
          <a:prstGeom prst="rect">
            <a:avLst/>
          </a:prstGeom>
          <a:noFill/>
        </p:spPr>
        <p:txBody>
          <a:bodyPr wrap="square" lIns="0" rIns="0" tIns="0" bIns="0">
            <a:spAutoFit/>
          </a:bodyPr>
          <a:lstStyle/>
          <a:p>
            <a:r>
              <a:rPr sz="1150" b="1">
                <a:solidFill>
                  <a:srgbClr val="1E2328"/>
                </a:solidFill>
                <a:latin typeface="Calibri"/>
              </a:rPr>
              <a:t>Alice: upload massage.txt → Bob as demo2</a:t>
            </a:r>
          </a:p>
        </p:txBody>
      </p:sp>
      <p:pic>
        <p:nvPicPr>
          <p:cNvPr id="7" name="Picture 6" descr="04_alice_upload.png"/>
          <p:cNvPicPr>
            <a:picLocks noChangeAspect="1"/>
          </p:cNvPicPr>
          <p:nvPr/>
        </p:nvPicPr>
        <p:blipFill>
          <a:blip r:embed="rId2"/>
          <a:stretch>
            <a:fillRect/>
          </a:stretch>
        </p:blipFill>
        <p:spPr>
          <a:xfrm>
            <a:off x="594360" y="1527048"/>
            <a:ext cx="3794760" cy="1061059"/>
          </a:xfrm>
          <a:prstGeom prst="rect">
            <a:avLst/>
          </a:prstGeom>
        </p:spPr>
      </p:pic>
      <p:sp>
        <p:nvSpPr>
          <p:cNvPr id="8" name="TextBox 7"/>
          <p:cNvSpPr txBox="1"/>
          <p:nvPr/>
        </p:nvSpPr>
        <p:spPr>
          <a:xfrm>
            <a:off x="4754880" y="1252728"/>
            <a:ext cx="3794760" cy="228600"/>
          </a:xfrm>
          <a:prstGeom prst="rect">
            <a:avLst/>
          </a:prstGeom>
          <a:noFill/>
        </p:spPr>
        <p:txBody>
          <a:bodyPr wrap="square" lIns="0" rIns="0" tIns="0" bIns="0">
            <a:spAutoFit/>
          </a:bodyPr>
          <a:lstStyle/>
          <a:p>
            <a:r>
              <a:rPr sz="1150" b="1">
                <a:solidFill>
                  <a:srgbClr val="1E2328"/>
                </a:solidFill>
                <a:latin typeface="Calibri"/>
              </a:rPr>
              <a:t>Bob: retrieve demo2 - HMAC OK, signature OK</a:t>
            </a:r>
          </a:p>
        </p:txBody>
      </p:sp>
      <p:pic>
        <p:nvPicPr>
          <p:cNvPr id="9" name="Picture 8" descr="05_bob_retrieve.png"/>
          <p:cNvPicPr>
            <a:picLocks noChangeAspect="1"/>
          </p:cNvPicPr>
          <p:nvPr/>
        </p:nvPicPr>
        <p:blipFill>
          <a:blip r:embed="rId3"/>
          <a:stretch>
            <a:fillRect/>
          </a:stretch>
        </p:blipFill>
        <p:spPr>
          <a:xfrm>
            <a:off x="4754880" y="1527048"/>
            <a:ext cx="3794760" cy="1153164"/>
          </a:xfrm>
          <a:prstGeom prst="rect">
            <a:avLst/>
          </a:prstGeom>
        </p:spPr>
      </p:pic>
      <p:sp>
        <p:nvSpPr>
          <p:cNvPr id="10" name="Rectangle 9"/>
          <p:cNvSpPr/>
          <p:nvPr/>
        </p:nvSpPr>
        <p:spPr>
          <a:xfrm>
            <a:off x="457200" y="2908812"/>
            <a:ext cx="8229600" cy="1096811"/>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972820"/>
            <a:ext cx="5669280" cy="228600"/>
          </a:xfrm>
          <a:prstGeom prst="rect">
            <a:avLst/>
          </a:prstGeom>
          <a:noFill/>
        </p:spPr>
        <p:txBody>
          <a:bodyPr wrap="square" lIns="0" rIns="0" tIns="0" bIns="0">
            <a:spAutoFit/>
          </a:bodyPr>
          <a:lstStyle/>
          <a:p>
            <a:r>
              <a:rPr sz="1150" b="1">
                <a:solidFill>
                  <a:srgbClr val="2A9D8F"/>
                </a:solidFill>
                <a:latin typeface="Calibri"/>
              </a:rPr>
              <a:t>Decrypted file = original  (top: massage.txt, bottom: received_demo2.txt)</a:t>
            </a:r>
          </a:p>
        </p:txBody>
      </p:sp>
      <p:pic>
        <p:nvPicPr>
          <p:cNvPr id="12" name="Picture 11" descr="06_compare.png"/>
          <p:cNvPicPr>
            <a:picLocks noChangeAspect="1"/>
          </p:cNvPicPr>
          <p:nvPr/>
        </p:nvPicPr>
        <p:blipFill>
          <a:blip r:embed="rId4"/>
          <a:stretch>
            <a:fillRect/>
          </a:stretch>
        </p:blipFill>
        <p:spPr>
          <a:xfrm>
            <a:off x="594360" y="3247140"/>
            <a:ext cx="5669280" cy="639611"/>
          </a:xfrm>
          <a:prstGeom prst="rect">
            <a:avLst/>
          </a:prstGeom>
        </p:spPr>
      </p:pic>
      <p:sp>
        <p:nvSpPr>
          <p:cNvPr id="13" name="TextBox 12"/>
          <p:cNvSpPr txBox="1"/>
          <p:nvPr/>
        </p:nvSpPr>
        <p:spPr>
          <a:xfrm>
            <a:off x="6446520" y="3274572"/>
            <a:ext cx="2103120" cy="639611"/>
          </a:xfrm>
          <a:prstGeom prst="rect">
            <a:avLst/>
          </a:prstGeom>
          <a:noFill/>
        </p:spPr>
        <p:txBody>
          <a:bodyPr wrap="square" lIns="0" rIns="0" tIns="0" bIns="0">
            <a:spAutoFit/>
          </a:bodyPr>
          <a:lstStyle/>
          <a:p>
            <a:r>
              <a:rPr sz="1100" b="0">
                <a:solidFill>
                  <a:srgbClr val="5F6B73"/>
                </a:solidFill>
                <a:latin typeface="Calibri"/>
              </a:rPr>
              <a:t>Same bytes after encrypt → wrap → sign → verify → decrypt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Results 2 - Tampering refused, all tests pass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A malicious server edits documents.db; 219 tests prove every primitive</a:t>
            </a:r>
            <a:endParaRPr lang="en-US" sz="1300" dirty="0"/>
          </a:p>
        </p:txBody>
      </p:sp>
      <p:sp>
        <p:nvSpPr>
          <p:cNvPr id="4" name="Rectangle 3"/>
          <p:cNvSpPr/>
          <p:nvPr/>
        </p:nvSpPr>
        <p:spPr>
          <a:xfrm>
            <a:off x="457200" y="1188720"/>
            <a:ext cx="4069080" cy="1930056"/>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617720" y="1188720"/>
            <a:ext cx="4069080" cy="1930056"/>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52728"/>
            <a:ext cx="3794760" cy="228600"/>
          </a:xfrm>
          <a:prstGeom prst="rect">
            <a:avLst/>
          </a:prstGeom>
          <a:noFill/>
        </p:spPr>
        <p:txBody>
          <a:bodyPr wrap="square" lIns="0" rIns="0" tIns="0" bIns="0">
            <a:spAutoFit/>
          </a:bodyPr>
          <a:lstStyle/>
          <a:p>
            <a:r>
              <a:rPr sz="1150" b="1">
                <a:solidFill>
                  <a:srgbClr val="C0392B"/>
                </a:solidFill>
                <a:latin typeface="Calibri"/>
              </a:rPr>
              <a:t>1. Server renames the file in metadata</a:t>
            </a:r>
          </a:p>
        </p:txBody>
      </p:sp>
      <p:pic>
        <p:nvPicPr>
          <p:cNvPr id="7" name="Picture 6" descr="image.png"/>
          <p:cNvPicPr>
            <a:picLocks noChangeAspect="1"/>
          </p:cNvPicPr>
          <p:nvPr/>
        </p:nvPicPr>
        <p:blipFill>
          <a:blip r:embed="rId2"/>
          <a:stretch>
            <a:fillRect/>
          </a:stretch>
        </p:blipFill>
        <p:spPr>
          <a:xfrm>
            <a:off x="594360" y="1527048"/>
            <a:ext cx="3794760" cy="174003"/>
          </a:xfrm>
          <a:prstGeom prst="rect">
            <a:avLst/>
          </a:prstGeom>
        </p:spPr>
      </p:pic>
      <p:sp>
        <p:nvSpPr>
          <p:cNvPr id="8" name="TextBox 7"/>
          <p:cNvSpPr txBox="1"/>
          <p:nvPr/>
        </p:nvSpPr>
        <p:spPr>
          <a:xfrm>
            <a:off x="594360" y="1883931"/>
            <a:ext cx="3794760" cy="228600"/>
          </a:xfrm>
          <a:prstGeom prst="rect">
            <a:avLst/>
          </a:prstGeom>
          <a:noFill/>
        </p:spPr>
        <p:txBody>
          <a:bodyPr wrap="square" lIns="0" rIns="0" tIns="0" bIns="0">
            <a:spAutoFit/>
          </a:bodyPr>
          <a:lstStyle/>
          <a:p>
            <a:r>
              <a:rPr sz="1150" b="1">
                <a:solidFill>
                  <a:srgbClr val="C0392B"/>
                </a:solidFill>
                <a:latin typeface="Calibri"/>
              </a:rPr>
              <a:t>2. Before: accepted  →  after: refused</a:t>
            </a:r>
          </a:p>
        </p:txBody>
      </p:sp>
      <p:pic>
        <p:nvPicPr>
          <p:cNvPr id="9" name="Picture 8" descr="image.png"/>
          <p:cNvPicPr>
            <a:picLocks noChangeAspect="1"/>
          </p:cNvPicPr>
          <p:nvPr/>
        </p:nvPicPr>
        <p:blipFill>
          <a:blip r:embed="rId3"/>
          <a:stretch>
            <a:fillRect/>
          </a:stretch>
        </p:blipFill>
        <p:spPr>
          <a:xfrm>
            <a:off x="594360" y="2158251"/>
            <a:ext cx="3794760" cy="693124"/>
          </a:xfrm>
          <a:prstGeom prst="rect">
            <a:avLst/>
          </a:prstGeom>
        </p:spPr>
      </p:pic>
      <p:sp>
        <p:nvSpPr>
          <p:cNvPr id="10" name="TextBox 9"/>
          <p:cNvSpPr txBox="1"/>
          <p:nvPr/>
        </p:nvSpPr>
        <p:spPr>
          <a:xfrm>
            <a:off x="4754880" y="1252728"/>
            <a:ext cx="3794760" cy="228600"/>
          </a:xfrm>
          <a:prstGeom prst="rect">
            <a:avLst/>
          </a:prstGeom>
          <a:noFill/>
        </p:spPr>
        <p:txBody>
          <a:bodyPr wrap="square" lIns="0" rIns="0" tIns="0" bIns="0">
            <a:spAutoFit/>
          </a:bodyPr>
          <a:lstStyle/>
          <a:p>
            <a:r>
              <a:rPr sz="1150" b="1">
                <a:solidFill>
                  <a:srgbClr val="2A9D8F"/>
                </a:solidFill>
                <a:latin typeface="Calibri"/>
              </a:rPr>
              <a:t>Full suite: 219 passed</a:t>
            </a:r>
          </a:p>
        </p:txBody>
      </p:sp>
      <p:pic>
        <p:nvPicPr>
          <p:cNvPr id="11" name="Picture 10" descr="09_pytest_all.png"/>
          <p:cNvPicPr>
            <a:picLocks noChangeAspect="1"/>
          </p:cNvPicPr>
          <p:nvPr/>
        </p:nvPicPr>
        <p:blipFill>
          <a:blip r:embed="rId5"/>
          <a:stretch>
            <a:fillRect/>
          </a:stretch>
        </p:blipFill>
        <p:spPr>
          <a:xfrm>
            <a:off x="4754880" y="1527048"/>
            <a:ext cx="3794760" cy="427840"/>
          </a:xfrm>
          <a:prstGeom prst="rect">
            <a:avLst/>
          </a:prstGeom>
        </p:spPr>
      </p:pic>
      <p:sp>
        <p:nvSpPr>
          <p:cNvPr id="12" name="TextBox 11"/>
          <p:cNvSpPr txBox="1"/>
          <p:nvPr/>
        </p:nvSpPr>
        <p:spPr>
          <a:xfrm>
            <a:off x="4754880" y="2137768"/>
            <a:ext cx="3794760" cy="228600"/>
          </a:xfrm>
          <a:prstGeom prst="rect">
            <a:avLst/>
          </a:prstGeom>
          <a:noFill/>
        </p:spPr>
        <p:txBody>
          <a:bodyPr wrap="square" lIns="0" rIns="0" tIns="0" bIns="0">
            <a:spAutoFit/>
          </a:bodyPr>
          <a:lstStyle/>
          <a:p>
            <a:r>
              <a:rPr sz="1150" b="1">
                <a:solidFill>
                  <a:srgbClr val="2A9D8F"/>
                </a:solidFill>
                <a:latin typeface="Calibri"/>
              </a:rPr>
              <a:t>Replay: a used login challenge is rejected</a:t>
            </a:r>
          </a:p>
        </p:txBody>
      </p:sp>
      <p:pic>
        <p:nvPicPr>
          <p:cNvPr id="13" name="Picture 12" descr="10_replay_test.png"/>
          <p:cNvPicPr>
            <a:picLocks noChangeAspect="1"/>
          </p:cNvPicPr>
          <p:nvPr/>
        </p:nvPicPr>
        <p:blipFill>
          <a:blip r:embed="rId6"/>
          <a:stretch>
            <a:fillRect/>
          </a:stretch>
        </p:blipFill>
        <p:spPr>
          <a:xfrm>
            <a:off x="4754880" y="2412088"/>
            <a:ext cx="3794760" cy="587815"/>
          </a:xfrm>
          <a:prstGeom prst="rect">
            <a:avLst/>
          </a:prstGeom>
        </p:spPr>
      </p:pic>
      <p:sp>
        <p:nvSpPr>
          <p:cNvPr id="14" name="Rectangle 13"/>
          <p:cNvSpPr/>
          <p:nvPr/>
        </p:nvSpPr>
        <p:spPr>
          <a:xfrm>
            <a:off x="457200" y="3255936"/>
            <a:ext cx="4069080" cy="685800"/>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17720" y="3255936"/>
            <a:ext cx="4069080" cy="685800"/>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93096"/>
            <a:ext cx="3703320" cy="457200"/>
          </a:xfrm>
          <a:prstGeom prst="rect">
            <a:avLst/>
          </a:prstGeom>
          <a:noFill/>
        </p:spPr>
        <p:txBody>
          <a:bodyPr wrap="square" lIns="0" rIns="0" tIns="0" bIns="0">
            <a:spAutoFit/>
          </a:bodyPr>
          <a:lstStyle/>
          <a:p>
            <a:r>
              <a:rPr sz="1200" b="1">
                <a:solidFill>
                  <a:srgbClr val="C0392B"/>
                </a:solidFill>
                <a:latin typeface="Calibri"/>
              </a:rPr>
              <a:t>Metadata is inside the HMAC, so the document is refused before decryption and nothing is written to disk.</a:t>
            </a:r>
          </a:p>
        </p:txBody>
      </p:sp>
      <p:sp>
        <p:nvSpPr>
          <p:cNvPr id="17" name="TextBox 16"/>
          <p:cNvSpPr txBox="1"/>
          <p:nvPr/>
        </p:nvSpPr>
        <p:spPr>
          <a:xfrm>
            <a:off x="4800600" y="3393096"/>
            <a:ext cx="3703320" cy="457200"/>
          </a:xfrm>
          <a:prstGeom prst="rect">
            <a:avLst/>
          </a:prstGeom>
          <a:noFill/>
        </p:spPr>
        <p:txBody>
          <a:bodyPr wrap="square" lIns="0" rIns="0" tIns="0" bIns="0">
            <a:spAutoFit/>
          </a:bodyPr>
          <a:lstStyle/>
          <a:p>
            <a:r>
              <a:rPr sz="1200" b="1">
                <a:solidFill>
                  <a:srgbClr val="2A9D8F"/>
                </a:solidFill>
                <a:latin typeface="Calibri"/>
              </a:rPr>
              <a:t>11 of 15 crypto components written by us, checked with NIST/RFC test vectors and library cross-checks.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t"/>
          <a:lstStyle/>
          <a:p>
            <a:pPr indent="0" marL="0">
              <a:buNone/>
            </a:pPr>
            <a:r>
              <a:rPr lang="en-US" sz="2800" b="1" dirty="0">
                <a:solidFill>
                  <a:srgbClr val="1E2328"/>
                </a:solidFill>
                <a:latin typeface="Cambria" pitchFamily="34" charset="0"/>
                <a:ea typeface="Cambria" pitchFamily="34" charset="-122"/>
                <a:cs typeface="Cambria" pitchFamily="34" charset="-120"/>
              </a:rPr>
              <a:t>Honest limitations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t"/>
          <a:lstStyle/>
          <a:p>
            <a:pPr indent="0" marL="0">
              <a:buNone/>
            </a:pPr>
            <a:r>
              <a:rPr lang="en-US" sz="1300" i="1" dirty="0">
                <a:solidFill>
                  <a:srgbClr val="5F6B73"/>
                </a:solidFill>
                <a:latin typeface="Calibri" pitchFamily="34" charset="0"/>
                <a:ea typeface="Calibri" pitchFamily="34" charset="-122"/>
                <a:cs typeface="Calibri" pitchFamily="34" charset="-120"/>
              </a:rPr>
              <a:t>What our design does NOT stop - and the fix</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3474720"/>
                <a:gridCol w="256032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1E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1E232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1E2328"/>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Self-signed TLS cert</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Trust depends on how server.crt reaches clients</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Share fingerprint out of band</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Plaintext hash on server</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Server can confirm a guessed file</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Sign ciphertext + tag instead</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Freshness at server</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No signed timestamp/counter for the client</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Signed timestamp + counter</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TOFU first contact</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Swap at first contact is not noticed</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Compare verification code</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Weak passwords</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Word-list password falls in minutes</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Dictionary check, raise to 64 MiB</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E2328"/>
                          </a:solidFill>
                          <a:latin typeface="Calibri" pitchFamily="34" charset="0"/>
                          <a:ea typeface="Calibri" pitchFamily="34" charset="-122"/>
                          <a:cs typeface="Calibri" pitchFamily="34" charset="-120"/>
                        </a:rPr>
                        <a:t>One recipient/upload</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Recipient bound into document metadata</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c>
                  <a:txBody>
                    <a:bodyPr/>
                    <a:lstStyle/>
                    <a:p>
                      <a:pPr indent="0" marL="0">
                        <a:buNone/>
                      </a:pPr>
                      <a:r>
                        <a:rPr lang="en-US" sz="1200" dirty="0">
                          <a:solidFill>
                            <a:srgbClr val="1E2328"/>
                          </a:solidFill>
                          <a:latin typeface="Calibri" pitchFamily="34" charset="0"/>
                          <a:ea typeface="Calibri" pitchFamily="34" charset="-122"/>
                          <a:cs typeface="Calibri" pitchFamily="34" charset="-120"/>
                        </a:rPr>
                        <a:t>Bind recipient only in wrap</a:t>
                      </a:r>
                      <a:endParaRPr lang="en-US" sz="1200" dirty="0">
                        <a:latin typeface="Calibri" charset="0"/>
                        <a:ea typeface="Calibri" charset="0"/>
                        <a:cs typeface="Calibri" charset="0"/>
                      </a:endParaRPr>
                    </a:p>
                  </a:txBody>
                  <a:tcPr marL="64008" marR="64008" marT="64008" marB="64008" anchor="ctr">
                    <a:lnL w="6350" cap="flat" cmpd="sng" algn="ctr">
                      <a:solidFill>
                        <a:srgbClr val="C9D1D6"/>
                      </a:solidFill>
                      <a:prstDash val="solid"/>
                      <a:round/>
                      <a:headEnd type="none" w="med" len="med"/>
                      <a:tailEnd type="none" w="med" len="med"/>
                    </a:lnL>
                    <a:lnR w="6350" cap="flat" cmpd="sng" algn="ctr">
                      <a:solidFill>
                        <a:srgbClr val="C9D1D6"/>
                      </a:solidFill>
                      <a:prstDash val="solid"/>
                      <a:round/>
                      <a:headEnd type="none" w="med" len="med"/>
                      <a:tailEnd type="none" w="med" len="med"/>
                    </a:lnR>
                    <a:lnT w="6350" cap="flat" cmpd="sng" algn="ctr">
                      <a:solidFill>
                        <a:srgbClr val="C9D1D6"/>
                      </a:solidFill>
                      <a:prstDash val="solid"/>
                      <a:round/>
                      <a:headEnd type="none" w="med" len="med"/>
                      <a:tailEnd type="none" w="med" len="med"/>
                    </a:lnT>
                    <a:lnB w="6350" cap="flat" cmpd="sng" algn="ctr">
                      <a:solidFill>
                        <a:srgbClr val="C9D1D6"/>
                      </a:solidFill>
                      <a:prstDash val="solid"/>
                      <a:round/>
                      <a:headEnd type="none" w="med" len="med"/>
                      <a:tailEnd type="none" w="med" len="med"/>
                    </a:lnB>
                    <a:solidFill>
                      <a:srgbClr val="F3F5F6"/>
                    </a:solidFill>
                  </a:tcPr>
                </a:tc>
              </a:tr>
            </a:tbl>
          </a:graphicData>
        </a:graphic>
      </p:graphicFrame>
      <p:sp>
        <p:nvSpPr>
          <p:cNvPr id="17" name="Rectangle 16"/>
          <p:cNvSpPr/>
          <p:nvPr/>
        </p:nvSpPr>
        <p:spPr>
          <a:xfrm>
            <a:off x="457200" y="4553712"/>
            <a:ext cx="8229600" cy="457200"/>
          </a:xfrm>
          <a:prstGeom prst="rect">
            <a:avLst/>
          </a:prstGeom>
          <a:solidFill>
            <a:srgbClr val="F3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26864"/>
            <a:ext cx="6035040" cy="365760"/>
          </a:xfrm>
          <a:prstGeom prst="rect">
            <a:avLst/>
          </a:prstGeom>
          <a:noFill/>
        </p:spPr>
        <p:txBody>
          <a:bodyPr wrap="square" lIns="0" rIns="0" tIns="0" bIns="0">
            <a:spAutoFit/>
          </a:bodyPr>
          <a:lstStyle/>
          <a:p>
            <a:r>
              <a:rPr sz="1500" b="1">
                <a:solidFill>
                  <a:srgbClr val="1E2328"/>
                </a:solidFill>
                <a:latin typeface="Calibri"/>
              </a:rPr>
              <a:t>The server holds every byte - and can read none of them.</a:t>
            </a:r>
          </a:p>
        </p:txBody>
      </p:sp>
      <p:sp>
        <p:nvSpPr>
          <p:cNvPr id="19" name="TextBox 18"/>
          <p:cNvSpPr txBox="1"/>
          <p:nvPr/>
        </p:nvSpPr>
        <p:spPr>
          <a:xfrm>
            <a:off x="6949440" y="4626864"/>
            <a:ext cx="1554480" cy="365760"/>
          </a:xfrm>
          <a:prstGeom prst="rect">
            <a:avLst/>
          </a:prstGeom>
          <a:noFill/>
        </p:spPr>
        <p:txBody>
          <a:bodyPr wrap="square" lIns="0" rIns="0" tIns="0" bIns="0">
            <a:spAutoFit/>
          </a:bodyPr>
          <a:lstStyle/>
          <a:p>
            <a:pPr algn="r"/>
            <a:r>
              <a:rPr sz="1500" b="1">
                <a:solidFill>
                  <a:srgbClr val="2A9D8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SecureVault - ENCS4320</dc:title>
  <dc:subject>PptxGenJS Presentation</dc:subject>
  <dc:creator>PptxGenJS</dc:creator>
  <cp:lastModifiedBy>PptxGenJS</cp:lastModifiedBy>
  <cp:revision>1</cp:revision>
  <dcterms:created xsi:type="dcterms:W3CDTF">2026-09-25T23:18:45Z</dcterms:created>
  <dcterms:modified xsi:type="dcterms:W3CDTF">2026-09-25T23:18:45Z</dcterms:modified>
</cp:coreProperties>
</file>